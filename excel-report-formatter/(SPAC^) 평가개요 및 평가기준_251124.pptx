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6" r:id="rId3"/>
    <p:sldId id="279" r:id="rId4"/>
    <p:sldId id="278" r:id="rId5"/>
    <p:sldId id="265" r:id="rId6"/>
    <p:sldId id="268" r:id="rId7"/>
    <p:sldId id="262" r:id="rId8"/>
    <p:sldId id="263" r:id="rId9"/>
    <p:sldId id="264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268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7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B5CFCF-B300-2230-0949-8DAE4E414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AAB9D9-854B-CDC6-554D-EA3B39CB7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E84ED4-9E04-C06C-D223-A6591277C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EEC4-903A-4687-9A06-08FBD70F3BA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F8AC81-2DB7-BC5A-0E07-6C79A9E1E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6B9C3D-EEC5-F5FF-B1F1-EC1F3FA58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AE59-FB6D-41F0-A7CD-66BDDEB3E8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185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B45E48-B837-25CA-CA4F-6C915814A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0E19D4-A94C-A2FC-9726-4849681C9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5A223A-A0A7-C8C1-B0A0-E35ECE3C2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EEC4-903A-4687-9A06-08FBD70F3BA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A4CDEE-7CB2-FFBC-D0B6-6E3D9E55E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E61936-0923-8870-C7BB-28DF8CF56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AE59-FB6D-41F0-A7CD-66BDDEB3E8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1416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6E05A8-F496-2A6B-704F-901419017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982C26-70F6-88ED-D293-88A3034D7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D964E3-FB00-FD16-63E6-F398B5643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EEC4-903A-4687-9A06-08FBD70F3BA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188C75-4D0F-21A6-57DC-EAA8C8D82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1D0CAA-A19C-E72F-0DBD-242B00A0B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AE59-FB6D-41F0-A7CD-66BDDEB3E8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948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38B92-D8E1-E0E9-02A2-9CC5A6174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0DBA9E-B981-A43F-19FE-BC636D9CB2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F3028DF-0BE3-9503-1FDF-FEA7F82E1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2A8258-DC6D-BF52-9610-E9903AE0B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EEC4-903A-4687-9A06-08FBD70F3BA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AD74E0-50A9-B320-5805-9E3557CE7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00667B-E32B-668A-4D5F-2FA06A6DC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AE59-FB6D-41F0-A7CD-66BDDEB3E8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999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9074EF-C53B-BAE8-DA47-8B47F95F5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8F0B24A-DF02-2A74-580A-4FC3D98CA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15F0A5-BE44-844F-0327-9B7797CBD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8D78F9E-53E6-4090-D456-1BD2E1E732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9FD54D0-FC01-19BA-D06A-E88B925351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4CDFA8E-2185-A920-6428-1AE0FCD68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EEC4-903A-4687-9A06-08FBD70F3BA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25D062C-57AA-C575-C4BB-C261114F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00B4A19-52D8-D071-DA40-BBF955894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AE59-FB6D-41F0-A7CD-66BDDEB3E8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306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A584C-804B-5D62-5B35-A05743827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90B800A-9226-524F-A4BC-DC9A1262F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EEC4-903A-4687-9A06-08FBD70F3BA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24C3A42-AF01-9604-1550-4A34FA423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8738BF-A4DB-B1C6-CCF9-268C7B997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AE59-FB6D-41F0-A7CD-66BDDEB3E8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045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6FEBB82-1264-DD2F-7001-95839BE35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EEC4-903A-4687-9A06-08FBD70F3BA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2A3FCA6-C033-81CA-36B5-7A965D0D8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4A85C0-3AEE-E106-D8FB-05752F930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AE59-FB6D-41F0-A7CD-66BDDEB3E8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306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67E0B7-B1B8-F977-0E82-49D707B34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7C3D8D-897F-2C33-8DC3-61DB928D6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3C0BD5-806E-EAE0-8633-B4893B161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74553A-929C-D37A-E63B-6E70FB8F3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EEC4-903A-4687-9A06-08FBD70F3BA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E52776-0BB6-E709-3BD9-D5B305EDB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043F64-3AA0-303D-C964-5EFBF0792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AE59-FB6D-41F0-A7CD-66BDDEB3E8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603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51AE66-F783-A590-21A4-475F308F9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2A92FB2-F2AD-8BFD-124C-0BA18A7A6C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C392B9-4B23-0889-3DBC-8CB556EEC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9F87B2-0E4A-DB2C-01DD-CBA164A1E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EEC4-903A-4687-9A06-08FBD70F3BA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6B3631-ADEC-4369-1B44-273DE0065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24A030-4BAD-F1C9-A3EC-A657167A6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AE59-FB6D-41F0-A7CD-66BDDEB3E8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849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140B13-7A08-BBA6-8DF7-5A68B21B7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B807EC6-5E24-0BB3-3FD1-3DDC7242B7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37C6A7-784B-8396-B930-B966C6D40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EEC4-903A-4687-9A06-08FBD70F3BA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8955EA-81AE-474C-CBFA-2D6B3C8C9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51AF35-6073-8EA5-3276-A9D0866A7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AE59-FB6D-41F0-A7CD-66BDDEB3E8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9858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A3007D7-FB20-D88D-1943-A363B95BC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7AC53D3-F6D5-DFC1-801A-FBA4410182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F3952F-0D06-98BD-B47C-4291B129A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EEC4-903A-4687-9A06-08FBD70F3BA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1AE436-AAD7-7DBD-0C62-6054D42E0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AFC914-2B0E-7D0E-477F-5B5551D2B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AE59-FB6D-41F0-A7CD-66BDDEB3E8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7190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E6607C-AAF2-473B-AA4B-3A47B44DF7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291460-8C8D-47DB-94F0-08DB59A00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346A2B-07A7-48A9-B325-6EE699E0CE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7B30E1-3193-4BD6-B97F-6141379E443D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5D83E3-A3EC-45CB-9055-B16D352F2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984C1E-F29E-4A7A-88DA-593BB87D8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35BA-4C39-4390-9D99-BAAECBAF22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050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C28754-EE9D-4B77-B544-8DE895D03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36971D-AE7A-49AF-80F7-680BBD84F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A1B36E-9A9D-4A7F-9FF8-0EBB3CFA59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CD6530-F01E-474A-A45C-2AFFE616E246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14A4BB-EA3A-46DC-8D78-476FF989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CAF644-6553-448A-87CD-191863A5B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35BA-4C39-4390-9D99-BAAECBAF22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1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982C58-C4A0-4AC4-8240-3158B8527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46646D-5B39-4943-8E99-C09CE2D3B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4A2DDC-D8BE-4E10-9330-06D2B932DA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CF430AF-C1DD-44CA-BBE4-A494AB7CDB27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65EEF3-D0BD-498D-A7D5-A32686C00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770FA5-D054-405D-B1D6-67D56CD4E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35BA-4C39-4390-9D99-BAAECBAF22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5C64FA-DC3F-471D-8CDA-4D3CB23D5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C5F225-020F-491D-8B3B-B2455389B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4A5660-84B3-46D2-A05C-389112AFB8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D71706-1951-434E-9662-6688A6BB63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FDE34D-7987-482B-9EEC-BF1A185580B7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D27966-1552-4AE5-8F8E-2ADA0D9FC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CDA123-FEA3-45DF-B1FA-187F0E9FD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35BA-4C39-4390-9D99-BAAECBAF22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6564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454CE9-F942-4824-BD1E-E104D46BF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9A6EE5-6012-40FF-9BF9-D57B69AA2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5C25EF-12FA-4CF8-89D3-444C8FC33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56FB6D7-1D14-40A1-90A4-430301D5FC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B53DB4F-9AD2-4B99-B757-9298E8C9DC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460ECA2-82E8-4C20-9429-03BEF9BB8E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BB5351-3A3F-4FFC-B259-767811DE4C27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932C587-0985-4687-AFDC-D93E0A6EF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4642EFE-263B-42EB-BAFC-036043E2D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35BA-4C39-4390-9D99-BAAECBAF22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4098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B2C2AD-6DEB-4FCA-852D-49CEF8A52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F30ADD7-B751-4DBC-B28F-3E63F58EF6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CC62EB8-CDFA-414F-B570-B5C9CD38BF6D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2351183-BC64-4E6F-A0B7-24447F517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F124CA0-A0B0-409B-BDE8-35447E23B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35BA-4C39-4390-9D99-BAAECBAF22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5786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DD426C7-56AE-4AA7-86D8-CEDEF9A3E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959F628-FC0E-41AF-AFD8-DDF8034EA4C4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4A86EEC-9530-4A49-9858-571D68F90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4AEAAC-4A56-48D6-88E8-A8D518C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35BA-4C39-4390-9D99-BAAECBAF22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2366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8FCA9C-C8FF-4CC6-89D4-0099DD1D6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F338E0-49D5-4829-AF56-FD92B82D3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67EF878-48EC-416E-BB85-9FDD6A59F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99D0A2-7B19-4EFC-ACC1-DFB7116810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9C5057-9065-49C8-B96C-3F1C31DA5567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798F24-9E19-45FC-938C-67FED0C45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188835-0BEF-448D-A4B0-482B5313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35BA-4C39-4390-9D99-BAAECBAF22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18175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11F5B7-9D55-4598-A259-128D3937C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963E6D6-57DE-42C0-BAEC-CCF7191E0C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DD9FAC-B1E1-4E18-9131-E888E2273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F3A3BA-9B54-4EF5-9FFE-3A2641E686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3D8E20-82F3-415D-AB23-EB2DC9DC5E52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8A46CB-6C41-4833-B59F-453575CC1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1DF56A-9AC4-4DED-A105-FB82FA4F5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35BA-4C39-4390-9D99-BAAECBAF22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1722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5AF341-1BBE-4F8C-BD01-E1F288C7D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FD1F00-0A30-4D6D-A5A1-6F9EDB0FFE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1C8C22-6225-4BE6-8B6A-09551A468A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98B9BF-5566-4C72-8D86-2E1EF34DF3FB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8C18FE-0817-478F-B031-C871A83FE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D2FCD1-DC93-4C03-BE2A-AD1587DC7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35BA-4C39-4390-9D99-BAAECBAF22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2415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601FA9E-B796-4D99-B11D-64730044FB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8BD9267-DB4C-4B74-A6A4-5213CC1628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EC2B23-7247-4A2D-AC11-A54F279051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8B5D1E-1A9C-4ABC-8CC2-EE7881596977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C120A5-EF52-4DB9-813E-AA6B3491D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6BDD79-7BA2-46E3-89F5-20E44A3D5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235BA-4C39-4390-9D99-BAAECBAF22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919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7483F02-F390-3AB0-2150-E94FACE1D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E8A036-4E8A-0574-94DA-584F27D26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CCC40D-1BE1-4339-1220-D9649ACC38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0EEEC4-903A-4687-9A06-08FBD70F3BA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C5BA32-DF21-D2CF-8956-3DE6C0487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CA2D7D-E874-9B5C-93E9-E0641680AF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F0AE59-FB6D-41F0-A7CD-66BDDEB3E8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348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36746B-D243-4E4E-9E88-09593C7191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33365" y="6651812"/>
            <a:ext cx="2743200" cy="1882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5BC235BA-4C39-4390-9D99-BAAECBAF22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867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89C577D-6406-B953-11E0-2B5E6D67F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015656"/>
              </p:ext>
            </p:extLst>
          </p:nvPr>
        </p:nvGraphicFramePr>
        <p:xfrm>
          <a:off x="133350" y="1355518"/>
          <a:ext cx="5492750" cy="1998666"/>
        </p:xfrm>
        <a:graphic>
          <a:graphicData uri="http://schemas.openxmlformats.org/drawingml/2006/table">
            <a:tbl>
              <a:tblPr/>
              <a:tblGrid>
                <a:gridCol w="1589087">
                  <a:extLst>
                    <a:ext uri="{9D8B030D-6E8A-4147-A177-3AD203B41FA5}">
                      <a16:colId xmlns:a16="http://schemas.microsoft.com/office/drawing/2014/main" val="1419577718"/>
                    </a:ext>
                  </a:extLst>
                </a:gridCol>
                <a:gridCol w="3189288">
                  <a:extLst>
                    <a:ext uri="{9D8B030D-6E8A-4147-A177-3AD203B41FA5}">
                      <a16:colId xmlns:a16="http://schemas.microsoft.com/office/drawing/2014/main" val="3709163756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968770646"/>
                    </a:ext>
                  </a:extLst>
                </a:gridCol>
              </a:tblGrid>
              <a:tr h="2095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5406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5406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문항수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540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472427"/>
                  </a:ext>
                </a:extLst>
              </a:tr>
              <a:tr h="2555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Part A: Reading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지시하는 번호의 문장 유창하게 읽기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367906"/>
                  </a:ext>
                </a:extLst>
              </a:tr>
              <a:tr h="2555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Part B: Listen &amp; Repeat 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문장 듣고 이해한 문장을 유창하게 말하기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3805053"/>
                  </a:ext>
                </a:extLst>
              </a:tr>
              <a:tr h="2555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Part C: Sentence Building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주어진 </a:t>
                      </a:r>
                      <a:r>
                        <a:rPr kumimoji="0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개의 구를 듣고 문장 완성하여 말하기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788117"/>
                  </a:ext>
                </a:extLst>
              </a:tr>
              <a:tr h="2555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Part D: Responding Skill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주어진 문장에 올바른 답안 말하기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420617"/>
                  </a:ext>
                </a:extLst>
              </a:tr>
              <a:tr h="2555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Part E: Story Retelling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스토리 듣고</a:t>
                      </a:r>
                      <a:r>
                        <a:rPr kumimoji="0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다시 말하기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8692023"/>
                  </a:ext>
                </a:extLst>
              </a:tr>
              <a:tr h="2555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Part E: Open Question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질문을 듣고 자신의 의견을 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60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 동안 진술하기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4526339"/>
                  </a:ext>
                </a:extLst>
              </a:tr>
              <a:tr h="2555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총 시험시간 약 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분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총 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 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문항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8988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124C093-BD74-4AFF-351E-259049E01DA8}"/>
              </a:ext>
            </a:extLst>
          </p:cNvPr>
          <p:cNvSpPr txBox="1"/>
          <p:nvPr/>
        </p:nvSpPr>
        <p:spPr>
          <a:xfrm>
            <a:off x="106363" y="1001713"/>
            <a:ext cx="2310248" cy="246221"/>
          </a:xfrm>
          <a:prstGeom prst="rect">
            <a:avLst/>
          </a:prstGeom>
          <a:solidFill>
            <a:srgbClr val="FFCCFF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SPAC^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응시 내용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총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 파트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문항</a:t>
            </a: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kumimoji="0"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D8BC6B-25A3-B92E-786A-A28957D875AC}"/>
              </a:ext>
            </a:extLst>
          </p:cNvPr>
          <p:cNvSpPr txBox="1"/>
          <p:nvPr/>
        </p:nvSpPr>
        <p:spPr>
          <a:xfrm>
            <a:off x="133350" y="4202706"/>
            <a:ext cx="1614545" cy="246221"/>
          </a:xfrm>
          <a:prstGeom prst="rect">
            <a:avLst/>
          </a:prstGeom>
          <a:solidFill>
            <a:srgbClr val="FFCCFF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평가영역</a:t>
            </a:r>
            <a:r>
              <a:rPr kumimoji="0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kumimoji="0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 영역       </a:t>
            </a:r>
            <a:endParaRPr kumimoji="0"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D1D60679-7D05-2CEE-5B63-20AA4A69F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898896"/>
              </p:ext>
            </p:extLst>
          </p:nvPr>
        </p:nvGraphicFramePr>
        <p:xfrm>
          <a:off x="134937" y="4531111"/>
          <a:ext cx="5491163" cy="1538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3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52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영역</a:t>
                      </a:r>
                      <a:endParaRPr lang="en-US" altLang="ko-KR" sz="900" b="1" i="0" u="none" strike="noStrike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41" marR="91441" marT="45705" marB="4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평가내용</a:t>
                      </a:r>
                      <a:endParaRPr lang="en-US" altLang="ko-KR" sz="900" b="1" i="0" u="none" strike="noStrike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41" marR="91441" marT="45705" marB="4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가중치</a:t>
                      </a:r>
                      <a:endParaRPr lang="en-US" altLang="ko-KR" sz="900" b="1" i="0" u="none" strike="noStrike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41" marR="91441" marT="45705" marB="4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52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Sentence Mastery</a:t>
                      </a:r>
                    </a:p>
                  </a:txBody>
                  <a:tcPr marL="91441" marR="91441" marT="45705" marB="4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문장구조에 대한 이해와 문장응용 및 문법사용을 평가한다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91441" marR="91441" marT="45705" marB="4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25%</a:t>
                      </a:r>
                    </a:p>
                  </a:txBody>
                  <a:tcPr marL="91441" marR="91441" marT="45705" marB="4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0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Fluency</a:t>
                      </a:r>
                    </a:p>
                  </a:txBody>
                  <a:tcPr marL="91441" marR="91441" marT="45705" marB="4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글의 짜임새와 논리적인 의견 전달을 평가한다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91441" marR="91441" marT="45705" marB="4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25%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41" marR="91441" marT="45705" marB="4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0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Comprehension</a:t>
                      </a:r>
                    </a:p>
                  </a:txBody>
                  <a:tcPr marL="91441" marR="91441" marT="45705" marB="4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지문 및 내용에 대한 이해도를 평가한다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91441" marR="91441" marT="45705" marB="4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20%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41" marR="91441" marT="45705" marB="4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0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Vocabulary</a:t>
                      </a:r>
                    </a:p>
                  </a:txBody>
                  <a:tcPr marL="91441" marR="91441" marT="45705" marB="4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올바른 어휘의 활용과 선택 그리고 사용 어휘의 난이도를 평가한다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91441" marR="91441" marT="45705" marB="4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15%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41" marR="91441" marT="45705" marB="4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9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Pronunciation</a:t>
                      </a:r>
                    </a:p>
                  </a:txBody>
                  <a:tcPr marL="91441" marR="91441" marT="45705" marB="4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자음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모음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강세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및 억양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대한 자연스러운 발음을 평가한다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91441" marR="91441" marT="45705" marB="4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15%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41" marR="91441" marT="45705" marB="4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BD81589-30B3-47D7-B614-AB958E3D068D}"/>
              </a:ext>
            </a:extLst>
          </p:cNvPr>
          <p:cNvSpPr txBox="1"/>
          <p:nvPr/>
        </p:nvSpPr>
        <p:spPr>
          <a:xfrm>
            <a:off x="103612" y="639152"/>
            <a:ext cx="17998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(1) SPAC^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평가 개요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2BB4383-340B-137C-E11D-182B88D235A8}"/>
              </a:ext>
            </a:extLst>
          </p:cNvPr>
          <p:cNvGrpSpPr/>
          <p:nvPr/>
        </p:nvGrpSpPr>
        <p:grpSpPr>
          <a:xfrm>
            <a:off x="-11565" y="0"/>
            <a:ext cx="7960511" cy="516048"/>
            <a:chOff x="-11565" y="0"/>
            <a:chExt cx="7960511" cy="51604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F85A3C0-F162-BA63-2D9C-58083951D49C}"/>
                </a:ext>
              </a:extLst>
            </p:cNvPr>
            <p:cNvSpPr txBox="1"/>
            <p:nvPr/>
          </p:nvSpPr>
          <p:spPr>
            <a:xfrm>
              <a:off x="112665" y="67022"/>
              <a:ext cx="23857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1. SPAC^ </a:t>
              </a:r>
              <a:r>
                <a:rPr kumimoji="0" lang="ko-KR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평가 개요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A1338BB-3B51-9C64-6E94-31D396F26E72}"/>
                </a:ext>
              </a:extLst>
            </p:cNvPr>
            <p:cNvSpPr/>
            <p:nvPr/>
          </p:nvSpPr>
          <p:spPr>
            <a:xfrm>
              <a:off x="0" y="0"/>
              <a:ext cx="103612" cy="5160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5665746B-5633-1670-A0B2-7503A7C11CBF}"/>
                </a:ext>
              </a:extLst>
            </p:cNvPr>
            <p:cNvCxnSpPr>
              <a:cxnSpLocks/>
            </p:cNvCxnSpPr>
            <p:nvPr/>
          </p:nvCxnSpPr>
          <p:spPr>
            <a:xfrm>
              <a:off x="-11565" y="506995"/>
              <a:ext cx="79605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8FBBDFAE-294B-F78A-73CA-1140EE5E4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893914"/>
              </p:ext>
            </p:extLst>
          </p:nvPr>
        </p:nvGraphicFramePr>
        <p:xfrm>
          <a:off x="5773738" y="1339801"/>
          <a:ext cx="3286125" cy="2514600"/>
        </p:xfrm>
        <a:graphic>
          <a:graphicData uri="http://schemas.openxmlformats.org/drawingml/2006/table">
            <a:tbl>
              <a:tblPr/>
              <a:tblGrid>
                <a:gridCol w="857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 </a:t>
                      </a:r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Part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평가영역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평가척도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Part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Pronunciation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Part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Pronunciation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Part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Sentence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Mastery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Part 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N/A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550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Part 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Vocabulary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Sentence Mastery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Fluency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Comprehension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55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Part 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Vocabulary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Sentence Mastery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Fluency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BFF72120-50CB-5782-E64A-C77D7854A608}"/>
              </a:ext>
            </a:extLst>
          </p:cNvPr>
          <p:cNvSpPr txBox="1"/>
          <p:nvPr/>
        </p:nvSpPr>
        <p:spPr>
          <a:xfrm>
            <a:off x="5773738" y="1001871"/>
            <a:ext cx="1128835" cy="246221"/>
          </a:xfrm>
          <a:prstGeom prst="rect">
            <a:avLst/>
          </a:prstGeom>
          <a:solidFill>
            <a:srgbClr val="FFCCFF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Part </a:t>
            </a: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별 평가 영역</a:t>
            </a:r>
            <a:endParaRPr kumimoji="0"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6E02ED-A395-D453-3607-289311B8B661}"/>
              </a:ext>
            </a:extLst>
          </p:cNvPr>
          <p:cNvSpPr txBox="1"/>
          <p:nvPr/>
        </p:nvSpPr>
        <p:spPr>
          <a:xfrm>
            <a:off x="5773738" y="4219259"/>
            <a:ext cx="1011815" cy="246221"/>
          </a:xfrm>
          <a:prstGeom prst="rect">
            <a:avLst/>
          </a:prstGeom>
          <a:solidFill>
            <a:srgbClr val="FFCCFF"/>
          </a:solidFill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 영역</a:t>
            </a:r>
            <a:r>
              <a:rPr kumimoji="0"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_</a:t>
            </a:r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세부</a:t>
            </a:r>
            <a:endParaRPr kumimoji="0"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DFEA3F46-9226-FDCB-71AC-67FF6C0E1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633209"/>
              </p:ext>
            </p:extLst>
          </p:nvPr>
        </p:nvGraphicFramePr>
        <p:xfrm>
          <a:off x="5773738" y="4526751"/>
          <a:ext cx="6163157" cy="808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7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11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1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Fluency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39" marR="91439" marT="45738" marB="45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Pronunciation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39" marR="91439" marT="45738" marB="45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Comprehension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39" marR="91439" marT="45738" marB="45738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Vocabulary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39" marR="91439" marT="45738" marB="45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Sentence Mastery</a:t>
                      </a:r>
                      <a:endParaRPr lang="ko-KR" altLang="en-US" sz="9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1439" marR="91439" marT="45738" marB="45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34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유창성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Fluency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논리</a:t>
                      </a:r>
                      <a:r>
                        <a:rPr lang="ko-KR" altLang="en-US" sz="800" b="0" i="0" u="none" strike="noStrike" kern="1200" baseline="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800" b="0" i="0" u="none" strike="noStrike" kern="1200" baseline="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구성력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Logical</a:t>
                      </a:r>
                      <a:r>
                        <a:rPr lang="en-US" altLang="ko-KR" sz="800" b="0" i="0" u="none" strike="noStrike" kern="1200" baseline="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Thinking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kern="1200" baseline="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Organization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91439" marR="91439" marT="45738" marB="457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모음 및 자음 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b</a:t>
                      </a:r>
                      <a:r>
                        <a:rPr lang="en-US" altLang="ko-KR" sz="800" b="0" i="0" u="none" strike="noStrike" kern="1200" baseline="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/ v / </a:t>
                      </a:r>
                      <a:r>
                        <a:rPr lang="en-US" altLang="ko-KR" sz="800" b="0" i="0" u="none" strike="noStrike" kern="1200" baseline="0" dirty="0" err="1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th</a:t>
                      </a:r>
                      <a:r>
                        <a:rPr lang="en-US" altLang="ko-KR" sz="800" b="0" i="0" u="none" strike="noStrike" kern="1200" baseline="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/ r</a:t>
                      </a:r>
                    </a:p>
                  </a:txBody>
                  <a:tcPr marL="91439" marR="91439" marT="45738" marB="457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적합성 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Appropriateness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다양성 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Variety</a:t>
                      </a:r>
                    </a:p>
                  </a:txBody>
                  <a:tcPr marL="91439" marR="91439" marT="45738" marB="457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문장구조 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Structure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문법 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Grammar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91439" marR="91439" marT="45738" marB="457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4364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0072E-96B8-AEC8-9A1A-49C967BB6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70FEC0C-DCDD-66E0-7826-3248E6C01EA7}"/>
              </a:ext>
            </a:extLst>
          </p:cNvPr>
          <p:cNvSpPr txBox="1"/>
          <p:nvPr/>
        </p:nvSpPr>
        <p:spPr>
          <a:xfrm>
            <a:off x="103612" y="639152"/>
            <a:ext cx="23176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(2) SPAC^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등급 체계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영어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8BE0DFF-3103-855F-A5A3-4BDBD1BBE965}"/>
              </a:ext>
            </a:extLst>
          </p:cNvPr>
          <p:cNvGrpSpPr/>
          <p:nvPr/>
        </p:nvGrpSpPr>
        <p:grpSpPr>
          <a:xfrm>
            <a:off x="-11565" y="0"/>
            <a:ext cx="7960511" cy="516048"/>
            <a:chOff x="-11565" y="0"/>
            <a:chExt cx="7960511" cy="51604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0766D62-DBCC-333A-BE1E-D262AE14A171}"/>
                </a:ext>
              </a:extLst>
            </p:cNvPr>
            <p:cNvSpPr txBox="1"/>
            <p:nvPr/>
          </p:nvSpPr>
          <p:spPr>
            <a:xfrm>
              <a:off x="112665" y="67022"/>
              <a:ext cx="23857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en-US" altLang="ko-KR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1. SPAC^ </a:t>
              </a:r>
              <a:r>
                <a:rPr lang="ko-KR" altLang="en-US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평가 개요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F90292A-EDCB-E2A1-6B1E-AEBF1C438E63}"/>
                </a:ext>
              </a:extLst>
            </p:cNvPr>
            <p:cNvSpPr/>
            <p:nvPr/>
          </p:nvSpPr>
          <p:spPr>
            <a:xfrm>
              <a:off x="0" y="0"/>
              <a:ext cx="103612" cy="5160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06381DA0-34AB-1E11-916E-900D1DF00E11}"/>
                </a:ext>
              </a:extLst>
            </p:cNvPr>
            <p:cNvCxnSpPr>
              <a:cxnSpLocks/>
            </p:cNvCxnSpPr>
            <p:nvPr/>
          </p:nvCxnSpPr>
          <p:spPr>
            <a:xfrm>
              <a:off x="-11565" y="506995"/>
              <a:ext cx="79605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6976DE0-AD52-1121-2F1A-2F243C18D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332835"/>
              </p:ext>
            </p:extLst>
          </p:nvPr>
        </p:nvGraphicFramePr>
        <p:xfrm>
          <a:off x="241845" y="979536"/>
          <a:ext cx="11545964" cy="5530587"/>
        </p:xfrm>
        <a:graphic>
          <a:graphicData uri="http://schemas.openxmlformats.org/drawingml/2006/table">
            <a:tbl>
              <a:tblPr/>
              <a:tblGrid>
                <a:gridCol w="946908">
                  <a:extLst>
                    <a:ext uri="{9D8B030D-6E8A-4147-A177-3AD203B41FA5}">
                      <a16:colId xmlns:a16="http://schemas.microsoft.com/office/drawing/2014/main" val="2897055411"/>
                    </a:ext>
                  </a:extLst>
                </a:gridCol>
                <a:gridCol w="1684462">
                  <a:extLst>
                    <a:ext uri="{9D8B030D-6E8A-4147-A177-3AD203B41FA5}">
                      <a16:colId xmlns:a16="http://schemas.microsoft.com/office/drawing/2014/main" val="1815831885"/>
                    </a:ext>
                  </a:extLst>
                </a:gridCol>
                <a:gridCol w="736401">
                  <a:extLst>
                    <a:ext uri="{9D8B030D-6E8A-4147-A177-3AD203B41FA5}">
                      <a16:colId xmlns:a16="http://schemas.microsoft.com/office/drawing/2014/main" val="1171552489"/>
                    </a:ext>
                  </a:extLst>
                </a:gridCol>
                <a:gridCol w="631530">
                  <a:extLst>
                    <a:ext uri="{9D8B030D-6E8A-4147-A177-3AD203B41FA5}">
                      <a16:colId xmlns:a16="http://schemas.microsoft.com/office/drawing/2014/main" val="252138474"/>
                    </a:ext>
                  </a:extLst>
                </a:gridCol>
                <a:gridCol w="7546663">
                  <a:extLst>
                    <a:ext uri="{9D8B030D-6E8A-4147-A177-3AD203B41FA5}">
                      <a16:colId xmlns:a16="http://schemas.microsoft.com/office/drawing/2014/main" val="2000636832"/>
                    </a:ext>
                  </a:extLst>
                </a:gridCol>
              </a:tblGrid>
              <a:tr h="4672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SPAC^</a:t>
                      </a:r>
                    </a:p>
                    <a:p>
                      <a:pPr algn="ctr" fontAlgn="ctr"/>
                      <a:r>
                        <a:rPr lang="ko-KR" altLang="en-US" sz="900" b="1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레벨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SPAC^E </a:t>
                      </a:r>
                      <a:r>
                        <a:rPr lang="ko-KR" altLang="en-US" sz="900" b="1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점수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Level</a:t>
                      </a:r>
                      <a:r>
                        <a:rPr lang="ko-KR" altLang="en-US" sz="900" b="1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900" b="1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Description</a:t>
                      </a:r>
                      <a:endParaRPr lang="ko-KR" altLang="en-US" sz="900" b="1" i="0" u="none" strike="noStrike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FFFFF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917605909"/>
                  </a:ext>
                </a:extLst>
              </a:tr>
              <a:tr h="46725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Level 7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AH2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(Advanced-High 2)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75-80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고급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원어민 수준의 영어 사용 능력을 가지고 있으며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100%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영어 환경에서의 생활에 전혀 어려움이 없습니다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원어민과의 심도 깊은 토론이 가능하며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자신의 의견을 논리적으로 전달할 수 있습니다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913978"/>
                  </a:ext>
                </a:extLst>
              </a:tr>
              <a:tr h="544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AH1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(Advanced-High 1)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64-74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168295"/>
                  </a:ext>
                </a:extLst>
              </a:tr>
              <a:tr h="544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원어민 수준의 발음과 억양을 지니고 있어 자연스러운 말하기가 가능합니다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고급 수준의 어휘 및 표현을 활용한 말하기가 가능하며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또한 매우 유창합니다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0802146"/>
                  </a:ext>
                </a:extLst>
              </a:tr>
              <a:tr h="358325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Level 6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020288"/>
                  </a:ext>
                </a:extLst>
              </a:tr>
              <a:tr h="544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AL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(Advanced-Low)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57-63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147677"/>
                  </a:ext>
                </a:extLst>
              </a:tr>
              <a:tr h="4672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다양한 주제로 원어민과 대화가 가능하며 자신의 의견을 상세한 내용으로 전달할 수 있습니다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전문용어 등 고급 수준의 어휘를 활용한 말하기가 가능하며 그 응용력 또한 뛰어납니다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7330837"/>
                  </a:ext>
                </a:extLst>
              </a:tr>
              <a:tr h="46725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Level 5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IH2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(Intermediate-High 2)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52-56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중급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가족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취미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관심거리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여행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시사문제 등의 주제에 관해 자신의 의견을 표현함에 있어 충분한 어휘력을 가지고 있습니다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상대방이 말한 내용의 요점을 정리하여 반복해 말할 수 있으며 나아가 자신의 아이디어를 더하여 내용을 발전시킬 수 있습니다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5633233"/>
                  </a:ext>
                </a:extLst>
              </a:tr>
              <a:tr h="544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다소 머뭇거리는 경향이 있으나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다양한 표현과 문장구조를 이용하여 많은 이야기를 할 수 있습니다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원어민과 기본적인 대화를 이해할 수 있고 그 대화에 참여할 수도 있습니다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익숙하지 않은 주제에 대한 내용을 이해할 수 있습니다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또한 그 내용을 정리하여 다시 말할 수 있습니다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012761"/>
                  </a:ext>
                </a:extLst>
              </a:tr>
              <a:tr h="64024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Level 4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IH1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(Intermediate-High 1)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48-51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31695"/>
                  </a:ext>
                </a:extLst>
              </a:tr>
              <a:tr h="544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일상생활에서 자주 접하는 익숙한 주제에 대한 대화가 가능합니다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일상생활에서 자주 접하는 주제에 관한 정보를 찾고 그 요점을 전달할 수 있으나 논리적인 의견을 더함에 다소 어려움을 보입니다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566965"/>
                  </a:ext>
                </a:extLst>
              </a:tr>
              <a:tr h="41278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Level 3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IM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(Intermediate-Mid)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44-47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916132"/>
                  </a:ext>
                </a:extLst>
              </a:tr>
              <a:tr h="544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복합적인 내용 전달이 가능하나 내용 구성에 있어 완성도가 다소 떨어지는 경향이 있습니다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다소 한정된 어휘력으로 반복적인 어휘와 표현을 사용하기는 하나 의견 전달이 가능합니다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2771485"/>
                  </a:ext>
                </a:extLst>
              </a:tr>
              <a:tr h="4672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IL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(Intermediate-Low)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40-43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015311"/>
                  </a:ext>
                </a:extLst>
              </a:tr>
              <a:tr h="46725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Level 2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BH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(Beginner-High)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33-39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초급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문장을 활용한 복수문장 말하기가 가능하나 사용되는 어휘 및 표현이 한정적입니다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익숙하지 않은 주제나 상황에서의 즉흥적인 의견을 간단하게 전달할 수 있습니다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2614692"/>
                  </a:ext>
                </a:extLst>
              </a:tr>
              <a:tr h="544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제한된 어휘력으로 다양한 표현을 전달함에 있어 어려움이 있습니다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상대방의 이야기를 듣고 그 요점을 정리하여 다시 말하기에 어려움이 있으나 주요 어휘를 활용하여 간략한 내용 전달이 가능합니다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5325000"/>
                  </a:ext>
                </a:extLst>
              </a:tr>
              <a:tr h="41278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Level 1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BM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(Beginner-Mid)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26-32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223806"/>
                  </a:ext>
                </a:extLst>
              </a:tr>
              <a:tr h="544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기초 문장구조를 이해하고 사용함에 어려움이 있습니다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외국인이 지니는 특유의 액센트가 강하고 다소 명확하지 않은 발음을 지니고 있으나 반복적인 말하기로 제한된 의견을 전달할 수 있습니다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900" b="0" i="0" u="none" strike="noStrike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174802"/>
                  </a:ext>
                </a:extLst>
              </a:tr>
              <a:tr h="4672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BL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(Beginner-Low)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20-25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964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2511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7A89E-9D99-582E-52DE-2A49308DA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94CC18F-C80C-694F-8AD8-1928B48BB81E}"/>
              </a:ext>
            </a:extLst>
          </p:cNvPr>
          <p:cNvSpPr txBox="1"/>
          <p:nvPr/>
        </p:nvSpPr>
        <p:spPr>
          <a:xfrm>
            <a:off x="103612" y="639152"/>
            <a:ext cx="24859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(3) SPAC^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등급 비교표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영어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C074BDD-11E1-4A83-114E-79A95887463D}"/>
              </a:ext>
            </a:extLst>
          </p:cNvPr>
          <p:cNvGrpSpPr/>
          <p:nvPr/>
        </p:nvGrpSpPr>
        <p:grpSpPr>
          <a:xfrm>
            <a:off x="-11565" y="0"/>
            <a:ext cx="7960511" cy="516048"/>
            <a:chOff x="-11565" y="0"/>
            <a:chExt cx="7960511" cy="51604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D97D9A4-C913-B093-BDF0-92BF5CBF2800}"/>
                </a:ext>
              </a:extLst>
            </p:cNvPr>
            <p:cNvSpPr txBox="1"/>
            <p:nvPr/>
          </p:nvSpPr>
          <p:spPr>
            <a:xfrm>
              <a:off x="112665" y="67022"/>
              <a:ext cx="23857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en-US" altLang="ko-KR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1. SPAC^ </a:t>
              </a:r>
              <a:r>
                <a:rPr lang="ko-KR" altLang="en-US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평가 개요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132DDAA-0C60-E38F-AFEF-C0E2F8E82F43}"/>
                </a:ext>
              </a:extLst>
            </p:cNvPr>
            <p:cNvSpPr/>
            <p:nvPr/>
          </p:nvSpPr>
          <p:spPr>
            <a:xfrm>
              <a:off x="0" y="0"/>
              <a:ext cx="103612" cy="5160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D587CFAB-CF3A-E2E4-2A57-A698048476B7}"/>
                </a:ext>
              </a:extLst>
            </p:cNvPr>
            <p:cNvCxnSpPr>
              <a:cxnSpLocks/>
            </p:cNvCxnSpPr>
            <p:nvPr/>
          </p:nvCxnSpPr>
          <p:spPr>
            <a:xfrm>
              <a:off x="-11565" y="506995"/>
              <a:ext cx="79605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D137EC1B-8884-760D-0C1A-2A1D73585EA7}"/>
              </a:ext>
            </a:extLst>
          </p:cNvPr>
          <p:cNvSpPr/>
          <p:nvPr/>
        </p:nvSpPr>
        <p:spPr>
          <a:xfrm>
            <a:off x="102726" y="6296569"/>
            <a:ext cx="637225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105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1257A3"/>
                </a:solidFill>
              </a:rPr>
              <a:t>※ </a:t>
            </a:r>
            <a:r>
              <a:rPr lang="ko-KR" altLang="en-US" sz="105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1257A3"/>
                </a:solidFill>
              </a:rPr>
              <a:t>단</a:t>
            </a:r>
            <a:r>
              <a:rPr lang="en-US" altLang="ko-KR" sz="105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1257A3"/>
                </a:solidFill>
              </a:rPr>
              <a:t>, </a:t>
            </a:r>
            <a:r>
              <a:rPr lang="ko-KR" altLang="en-US" sz="105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1257A3"/>
                </a:solidFill>
              </a:rPr>
              <a:t>본 비교등급표는 참고용으로 활용하기를 권장하며</a:t>
            </a:r>
            <a:r>
              <a:rPr lang="en-US" altLang="ko-KR" sz="105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1257A3"/>
                </a:solidFill>
              </a:rPr>
              <a:t>, </a:t>
            </a:r>
            <a:r>
              <a:rPr lang="ko-KR" altLang="en-US" sz="105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1257A3"/>
                </a:solidFill>
              </a:rPr>
              <a:t>등급 간 비교가 </a:t>
            </a:r>
            <a:r>
              <a:rPr lang="en-US" altLang="ko-KR" sz="105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1257A3"/>
                </a:solidFill>
              </a:rPr>
              <a:t>100% </a:t>
            </a:r>
            <a:r>
              <a:rPr lang="ko-KR" altLang="en-US" sz="1050" b="1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1257A3"/>
                </a:solidFill>
              </a:rPr>
              <a:t>일치하지 않을 수 있음</a:t>
            </a:r>
            <a:endParaRPr lang="ko-KR" altLang="en-US" sz="105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257A3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469DF64-5B05-DB84-651C-4E1C61C30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366378"/>
              </p:ext>
            </p:extLst>
          </p:nvPr>
        </p:nvGraphicFramePr>
        <p:xfrm>
          <a:off x="241845" y="979536"/>
          <a:ext cx="11357121" cy="5274487"/>
        </p:xfrm>
        <a:graphic>
          <a:graphicData uri="http://schemas.openxmlformats.org/drawingml/2006/table">
            <a:tbl>
              <a:tblPr/>
              <a:tblGrid>
                <a:gridCol w="851489">
                  <a:extLst>
                    <a:ext uri="{9D8B030D-6E8A-4147-A177-3AD203B41FA5}">
                      <a16:colId xmlns:a16="http://schemas.microsoft.com/office/drawing/2014/main" val="2897055411"/>
                    </a:ext>
                  </a:extLst>
                </a:gridCol>
                <a:gridCol w="1514720">
                  <a:extLst>
                    <a:ext uri="{9D8B030D-6E8A-4147-A177-3AD203B41FA5}">
                      <a16:colId xmlns:a16="http://schemas.microsoft.com/office/drawing/2014/main" val="1815831885"/>
                    </a:ext>
                  </a:extLst>
                </a:gridCol>
                <a:gridCol w="662195">
                  <a:extLst>
                    <a:ext uri="{9D8B030D-6E8A-4147-A177-3AD203B41FA5}">
                      <a16:colId xmlns:a16="http://schemas.microsoft.com/office/drawing/2014/main" val="1171552489"/>
                    </a:ext>
                  </a:extLst>
                </a:gridCol>
                <a:gridCol w="567891">
                  <a:extLst>
                    <a:ext uri="{9D8B030D-6E8A-4147-A177-3AD203B41FA5}">
                      <a16:colId xmlns:a16="http://schemas.microsoft.com/office/drawing/2014/main" val="252138474"/>
                    </a:ext>
                  </a:extLst>
                </a:gridCol>
                <a:gridCol w="1514375">
                  <a:extLst>
                    <a:ext uri="{9D8B030D-6E8A-4147-A177-3AD203B41FA5}">
                      <a16:colId xmlns:a16="http://schemas.microsoft.com/office/drawing/2014/main" val="1615914334"/>
                    </a:ext>
                  </a:extLst>
                </a:gridCol>
                <a:gridCol w="1325423">
                  <a:extLst>
                    <a:ext uri="{9D8B030D-6E8A-4147-A177-3AD203B41FA5}">
                      <a16:colId xmlns:a16="http://schemas.microsoft.com/office/drawing/2014/main" val="4193302137"/>
                    </a:ext>
                  </a:extLst>
                </a:gridCol>
                <a:gridCol w="756843">
                  <a:extLst>
                    <a:ext uri="{9D8B030D-6E8A-4147-A177-3AD203B41FA5}">
                      <a16:colId xmlns:a16="http://schemas.microsoft.com/office/drawing/2014/main" val="824830073"/>
                    </a:ext>
                  </a:extLst>
                </a:gridCol>
                <a:gridCol w="504344">
                  <a:extLst>
                    <a:ext uri="{9D8B030D-6E8A-4147-A177-3AD203B41FA5}">
                      <a16:colId xmlns:a16="http://schemas.microsoft.com/office/drawing/2014/main" val="621142176"/>
                    </a:ext>
                  </a:extLst>
                </a:gridCol>
                <a:gridCol w="1150235">
                  <a:extLst>
                    <a:ext uri="{9D8B030D-6E8A-4147-A177-3AD203B41FA5}">
                      <a16:colId xmlns:a16="http://schemas.microsoft.com/office/drawing/2014/main" val="3744744862"/>
                    </a:ext>
                  </a:extLst>
                </a:gridCol>
                <a:gridCol w="1254803">
                  <a:extLst>
                    <a:ext uri="{9D8B030D-6E8A-4147-A177-3AD203B41FA5}">
                      <a16:colId xmlns:a16="http://schemas.microsoft.com/office/drawing/2014/main" val="267267813"/>
                    </a:ext>
                  </a:extLst>
                </a:gridCol>
                <a:gridCol w="1254803">
                  <a:extLst>
                    <a:ext uri="{9D8B030D-6E8A-4147-A177-3AD203B41FA5}">
                      <a16:colId xmlns:a16="http://schemas.microsoft.com/office/drawing/2014/main" val="2196789003"/>
                    </a:ext>
                  </a:extLst>
                </a:gridCol>
              </a:tblGrid>
              <a:tr h="35971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SPAC^</a:t>
                      </a:r>
                    </a:p>
                    <a:p>
                      <a:pPr algn="ctr" fontAlgn="ctr"/>
                      <a:r>
                        <a:rPr lang="ko-KR" altLang="en-US" sz="900" b="1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레벨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SPAC^E </a:t>
                      </a:r>
                      <a:r>
                        <a:rPr lang="ko-KR" altLang="en-US" sz="900" b="1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점수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OPIc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TOEIC</a:t>
                      </a:r>
                      <a:br>
                        <a:rPr lang="en-US" sz="900" b="1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1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en-US" sz="900" b="1" i="0" u="none" strike="noStrike" spc="-8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speaking)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TEPS</a:t>
                      </a:r>
                      <a:br>
                        <a:rPr lang="en-US" sz="900" b="1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1" i="0" u="none" strike="noStrike" kern="1200" spc="-80" baseline="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(speaking)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IELTS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Versant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G-TELP</a:t>
                      </a:r>
                      <a:br>
                        <a:rPr lang="en-US" sz="900" b="1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1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(speaking)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ESPT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917605909"/>
                  </a:ext>
                </a:extLst>
              </a:tr>
              <a:tr h="320391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Level 7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AH2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(Advanced-High 2)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75-80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고급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AL</a:t>
                      </a:r>
                      <a:br>
                        <a:rPr lang="en-US" altLang="ko-KR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lang="en-US" altLang="ko-KR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(Advanced-Low)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Advanced High</a:t>
                      </a:r>
                    </a:p>
                    <a:p>
                      <a:pPr algn="ctr" fontAlgn="ctr"/>
                      <a:r>
                        <a:rPr lang="en-US" altLang="ko-KR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(200)</a:t>
                      </a:r>
                      <a:endParaRPr lang="en-US" sz="900" b="0" i="0" u="none" strike="noStrike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75-99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9.0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등급</a:t>
                      </a:r>
                      <a:b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(79-80)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Level 1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(Authentic)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국가공인 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급</a:t>
                      </a:r>
                      <a:b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(801-1000)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913978"/>
                  </a:ext>
                </a:extLst>
              </a:tr>
              <a:tr h="2508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AH1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(Advanced-High 1)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64-74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Advanced Mid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(180~190)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8.5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r>
                        <a:rPr lang="ko-KR" altLang="en-US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등급</a:t>
                      </a:r>
                      <a:br>
                        <a:rPr lang="ko-KR" altLang="en-US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lang="en-US" altLang="ko-KR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(69-78)</a:t>
                      </a:r>
                      <a:endParaRPr lang="ko-KR" altLang="en-US" sz="900" b="0" i="0" u="none" strike="noStrike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781682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Level 2~3</a:t>
                      </a:r>
                      <a:br>
                        <a:rPr lang="en-US" altLang="ko-KR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lang="en-US" altLang="ko-KR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(Advanced ~ High-Advanced)</a:t>
                      </a:r>
                      <a:endParaRPr lang="ko-KR" altLang="en-US" sz="900" b="0" i="0" u="none" strike="noStrike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2890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IH</a:t>
                      </a:r>
                      <a:br>
                        <a:rPr lang="en-US" altLang="ko-KR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lang="en-US" altLang="ko-KR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(Intermediate-High)</a:t>
                      </a:r>
                      <a:endParaRPr lang="ko-KR" altLang="en-US" sz="900" b="0" i="0" u="none" strike="noStrike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Advanced Low</a:t>
                      </a:r>
                      <a:br>
                        <a:rPr lang="en-US" altLang="ko-KR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lang="en-US" altLang="ko-KR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(160~170)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87647145"/>
                  </a:ext>
                </a:extLst>
              </a:tr>
              <a:tr h="2154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8.0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등급</a:t>
                      </a:r>
                      <a:b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(63-68)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666696"/>
                  </a:ext>
                </a:extLst>
              </a:tr>
              <a:tr h="30731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Level 6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020288"/>
                  </a:ext>
                </a:extLst>
              </a:tr>
              <a:tr h="61015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AL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(Advanced-Low)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57-63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IM3</a:t>
                      </a:r>
                      <a:br>
                        <a:rPr lang="en-US" altLang="ko-KR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lang="en-US" altLang="ko-KR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(Intermediate-Mid 3)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Intermediate High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(140~150)</a:t>
                      </a:r>
                      <a:endParaRPr lang="ko-KR" altLang="en-US" sz="900" b="0" i="0" u="none" strike="noStrike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68-75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7.5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4</a:t>
                      </a:r>
                      <a:r>
                        <a:rPr lang="ko-KR" altLang="en-US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등급</a:t>
                      </a:r>
                      <a:br>
                        <a:rPr lang="ko-KR" altLang="en-US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lang="en-US" altLang="ko-KR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(58-62)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Level 4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(High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-Intermediate)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국가공인 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 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급</a:t>
                      </a:r>
                      <a:b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(601-800)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2147677"/>
                  </a:ext>
                </a:extLst>
              </a:tr>
              <a:tr h="4886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Level 5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IH2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(Intermediate-High 2)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52-56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중급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IM2</a:t>
                      </a:r>
                      <a:b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(Intermediate-Mid 2</a:t>
                      </a:r>
                      <a:endParaRPr lang="en-US" sz="900" b="0" i="0" u="none" strike="noStrike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Intermediate Mid</a:t>
                      </a:r>
                    </a:p>
                    <a:p>
                      <a:pPr algn="ctr" fontAlgn="ctr"/>
                      <a:r>
                        <a:rPr lang="en-US" altLang="ko-KR" sz="900" b="0" i="0" u="none" strike="noStrike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(110~130)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58-67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7.0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등급</a:t>
                      </a:r>
                      <a:b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(52-57)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Level 4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(High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-Intermediate)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 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급</a:t>
                      </a:r>
                      <a:b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(501-600)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5633233"/>
                  </a:ext>
                </a:extLst>
              </a:tr>
              <a:tr h="24434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Level 4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IH1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(Intermediate-High 1)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48-51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나눔스퀘어 Bold" panose="020B0600000101010101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51-57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6.0-6.5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나눔스퀘어 Bold" panose="020B0600000101010101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Level 5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(Intermediate)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31695"/>
                  </a:ext>
                </a:extLst>
              </a:tr>
              <a:tr h="2443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IM1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(Intermediate-Mid 1)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등급</a:t>
                      </a:r>
                      <a:b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(47-51)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084520"/>
                  </a:ext>
                </a:extLst>
              </a:tr>
              <a:tr h="48869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Level 3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IM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(Intermediate-Mid)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44-47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나눔스퀘어 Bold" panose="020B0600000101010101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스퀘어 Bold" panose="020B0600000101010101" pitchFamily="50" charset="-127"/>
                        </a:rPr>
                        <a:t>Intermediate Mid</a:t>
                      </a:r>
                    </a:p>
                    <a:p>
                      <a:pPr algn="ctr" fontAlgn="ctr"/>
                      <a:r>
                        <a:rPr lang="en-US" sz="8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스퀘어 Bold" panose="020B0600000101010101" pitchFamily="50" charset="-127"/>
                        </a:rPr>
                        <a:t>(110~130)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j-lt"/>
                        <a:ea typeface="나눔스퀘어 Bold" panose="020B0600000101010101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27-50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5.5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나눔스퀘어 Bold" panose="020B0600000101010101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 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급</a:t>
                      </a:r>
                      <a:b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(401-500)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4916132"/>
                  </a:ext>
                </a:extLst>
              </a:tr>
              <a:tr h="4286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IL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(Intermediate-Low)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40-43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IL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(Intermediate-Low)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Intermediate Low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(90~100)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8-26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5.0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등급</a:t>
                      </a:r>
                      <a:b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(42-46)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Level 6~7</a:t>
                      </a:r>
                      <a:b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(Low-Intermediate ~ High-Basic)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 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급</a:t>
                      </a:r>
                      <a:b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(301-400)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4015311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Level 2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BH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(Beginner-High)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33-39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초급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NH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(Novice-High)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Novice High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(60~80)</a:t>
                      </a:r>
                      <a:endParaRPr lang="en-US" sz="900" b="0" i="0" u="none" strike="noStrike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4.0-4.5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등급</a:t>
                      </a:r>
                      <a:b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(36-41)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Level 8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(Basic)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 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급</a:t>
                      </a:r>
                      <a:b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(201-300)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2614692"/>
                  </a:ext>
                </a:extLst>
              </a:tr>
              <a:tr h="3831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Level 1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BM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(Beginner-Mid)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26-32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223806"/>
                  </a:ext>
                </a:extLst>
              </a:tr>
              <a:tr h="227648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스퀘어 Bold" panose="020B0600000101010101" pitchFamily="50" charset="-127"/>
                        </a:rPr>
                        <a:t>Level 1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NM</a:t>
                      </a:r>
                      <a:br>
                        <a:rPr lang="en-US" sz="900" b="0" i="0" u="none" strike="noStrike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(Novice-Mid)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Novice Mid / Low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(0~50)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3.0-3.5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등급</a:t>
                      </a:r>
                      <a:b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(26-35)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Level 9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(Low-Basic)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일반 </a:t>
                      </a: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급</a:t>
                      </a:r>
                      <a:b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(0-200)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4772380"/>
                  </a:ext>
                </a:extLst>
              </a:tr>
              <a:tr h="2659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BL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(Beginner-Low)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20-25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964318"/>
                  </a:ext>
                </a:extLst>
              </a:tr>
              <a:tr h="3827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입문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NL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(Novice-Low)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스퀘어 Bold" panose="020B0600000101010101" pitchFamily="50" charset="-127"/>
                        </a:rPr>
                        <a:t>Level 1</a:t>
                      </a:r>
                      <a:br>
                        <a:rPr lang="en-US" sz="8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스퀘어 Bold" panose="020B0600000101010101" pitchFamily="50" charset="-127"/>
                        </a:rPr>
                      </a:br>
                      <a:r>
                        <a:rPr lang="en-US" sz="8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스퀘어 Bold" panose="020B0600000101010101" pitchFamily="50" charset="-127"/>
                        </a:rPr>
                        <a:t>(0-30)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1.0-2.5</a:t>
                      </a: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등급</a:t>
                      </a:r>
                      <a:br>
                        <a:rPr lang="ko-KR" alt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(20-25)</a:t>
                      </a:r>
                      <a:endParaRPr lang="ko-KR" altLang="en-US" sz="900" b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Level 10</a:t>
                      </a:r>
                      <a:b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900" b="0" i="0" u="none" strike="noStrike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(Beginner-Basic)</a:t>
                      </a:r>
                      <a:endParaRPr lang="ko-KR" altLang="en-US" sz="900" b="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870" marR="6870" marT="7442" marB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871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8566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5551141-6510-4CF7-B897-8A13494289B6}"/>
              </a:ext>
            </a:extLst>
          </p:cNvPr>
          <p:cNvSpPr txBox="1"/>
          <p:nvPr/>
        </p:nvSpPr>
        <p:spPr>
          <a:xfrm>
            <a:off x="103612" y="639152"/>
            <a:ext cx="26509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Part A &amp; B AI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발음평가 기준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A49A848-0D2E-0FDC-8EEC-9D43A665C8A2}"/>
              </a:ext>
            </a:extLst>
          </p:cNvPr>
          <p:cNvGrpSpPr/>
          <p:nvPr/>
        </p:nvGrpSpPr>
        <p:grpSpPr>
          <a:xfrm>
            <a:off x="-11565" y="0"/>
            <a:ext cx="7960511" cy="516048"/>
            <a:chOff x="-11565" y="0"/>
            <a:chExt cx="7960511" cy="51604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B9B6F81-1F81-42AE-BA10-18171DB4444A}"/>
                </a:ext>
              </a:extLst>
            </p:cNvPr>
            <p:cNvSpPr txBox="1"/>
            <p:nvPr/>
          </p:nvSpPr>
          <p:spPr>
            <a:xfrm>
              <a:off x="112665" y="67022"/>
              <a:ext cx="23857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2. SPAC^ </a:t>
              </a:r>
              <a:r>
                <a:rPr kumimoji="0" lang="ko-KR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평가 기준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F6947EC-C2EA-49E0-A5A2-923A3E764C68}"/>
                </a:ext>
              </a:extLst>
            </p:cNvPr>
            <p:cNvSpPr/>
            <p:nvPr/>
          </p:nvSpPr>
          <p:spPr>
            <a:xfrm>
              <a:off x="0" y="0"/>
              <a:ext cx="103612" cy="5160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C56840D2-D273-40AF-AD12-F68BCCB9DF7A}"/>
                </a:ext>
              </a:extLst>
            </p:cNvPr>
            <p:cNvCxnSpPr>
              <a:cxnSpLocks/>
            </p:cNvCxnSpPr>
            <p:nvPr/>
          </p:nvCxnSpPr>
          <p:spPr>
            <a:xfrm>
              <a:off x="-11565" y="506995"/>
              <a:ext cx="79605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9A22E06D-5A8A-4445-8054-7707AE57A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125861"/>
              </p:ext>
            </p:extLst>
          </p:nvPr>
        </p:nvGraphicFramePr>
        <p:xfrm>
          <a:off x="212253" y="1013989"/>
          <a:ext cx="10789123" cy="5195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8422">
                  <a:extLst>
                    <a:ext uri="{9D8B030D-6E8A-4147-A177-3AD203B41FA5}">
                      <a16:colId xmlns:a16="http://schemas.microsoft.com/office/drawing/2014/main" val="874545999"/>
                    </a:ext>
                  </a:extLst>
                </a:gridCol>
                <a:gridCol w="2863981">
                  <a:extLst>
                    <a:ext uri="{9D8B030D-6E8A-4147-A177-3AD203B41FA5}">
                      <a16:colId xmlns:a16="http://schemas.microsoft.com/office/drawing/2014/main" val="1010259016"/>
                    </a:ext>
                  </a:extLst>
                </a:gridCol>
                <a:gridCol w="2805737">
                  <a:extLst>
                    <a:ext uri="{9D8B030D-6E8A-4147-A177-3AD203B41FA5}">
                      <a16:colId xmlns:a16="http://schemas.microsoft.com/office/drawing/2014/main" val="2986574585"/>
                    </a:ext>
                  </a:extLst>
                </a:gridCol>
                <a:gridCol w="3740983">
                  <a:extLst>
                    <a:ext uri="{9D8B030D-6E8A-4147-A177-3AD203B41FA5}">
                      <a16:colId xmlns:a16="http://schemas.microsoft.com/office/drawing/2014/main" val="714514542"/>
                    </a:ext>
                  </a:extLst>
                </a:gridCol>
              </a:tblGrid>
              <a:tr h="4570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As is (Rater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To be (AI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Remarks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073935"/>
                  </a:ext>
                </a:extLst>
              </a:tr>
              <a:tr h="20374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Part A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 선택형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질문 듣고 답변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단답형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(1~2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 단어 기반 발음 평가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algn="l" latinLnBrk="1"/>
                      <a:endParaRPr lang="en-US" altLang="ko-KR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▶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Rater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직접 평가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▶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Part A &amp; B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평균을 최종 발음 점수로 적용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발음 평가 가중치 적용하여 총점 적용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(15%)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 제시 문장 읽기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endParaRPr lang="en-US" altLang="ko-KR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▶ 음소단위 발음 평가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▶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Pitch Direction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강세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▶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Pitch Distance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인토네이션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▶ 총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3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 영역에서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AI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 진행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→ 발음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강세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인토네이션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endParaRPr lang="en-US" altLang="ko-KR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▶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 영역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점 만점 기준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band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별 평가 처리 후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</a:p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가중치 적용하여 최종 발음 평가 결과 도출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endParaRPr lang="en-US" altLang="ko-KR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▶ 가중치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→ 발음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70%</a:t>
                      </a:r>
                    </a:p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→ 강세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20%</a:t>
                      </a:r>
                    </a:p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→ 인토네이션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10%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552877"/>
                  </a:ext>
                </a:extLst>
              </a:tr>
              <a:tr h="16530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Part B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 문장 듣고 따라 말하기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endParaRPr lang="en-US" altLang="ko-KR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▶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Rater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직접 평가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억양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▶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Part A &amp; B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평균을 최종 발음 점수로 적용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발음 평가 가중치 적용하여 총점 적용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(15%)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 문장 듣고 따라 말하기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endParaRPr lang="en-US" altLang="ko-KR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▶ 음소단위 발음 평가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▶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Pitch Direction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강세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▶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Pitch Distance 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0" dirty="0" err="1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인토네이션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▶ </a:t>
                      </a:r>
                      <a:r>
                        <a:rPr lang="en-US" altLang="ko-KR" sz="1000" b="0" strike="sngStrik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Part B</a:t>
                      </a:r>
                      <a:r>
                        <a:rPr lang="ko-KR" altLang="en-US" sz="1000" b="0" strike="sngStrik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 경우</a:t>
                      </a:r>
                      <a:r>
                        <a:rPr lang="en-US" altLang="ko-KR" sz="1000" b="0" strike="sngStrik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="0" strike="sngStrik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발음 및 강세만 평가</a:t>
                      </a:r>
                      <a:endParaRPr lang="en-US" altLang="ko-KR" sz="1000" b="0" strike="sngStrike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Part A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와 동일하게 평가 적용</a:t>
                      </a:r>
                      <a:endParaRPr lang="en-US" altLang="ko-KR" sz="1000" b="0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endParaRPr lang="en-US" altLang="ko-KR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▶ </a:t>
                      </a:r>
                      <a:r>
                        <a:rPr lang="en-US" altLang="ko-KR" sz="1000" b="0" strike="sngStrik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Part A </a:t>
                      </a:r>
                      <a:r>
                        <a:rPr lang="ko-KR" altLang="en-US" sz="1000" b="0" strike="sngStrik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대비 발화 문장 길이가 짧아 </a:t>
                      </a:r>
                      <a:r>
                        <a:rPr lang="en-US" altLang="ko-KR" sz="1000" b="0" strike="sngStrik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Pitch Distance</a:t>
                      </a:r>
                      <a:r>
                        <a:rPr lang="ko-KR" altLang="en-US" sz="1000" b="0" strike="sngStrik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</a:t>
                      </a:r>
                      <a:endParaRPr lang="en-US" altLang="ko-KR" sz="1000" b="0" strike="sngStrike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r>
                        <a:rPr lang="en-US" altLang="ko-KR" sz="1000" b="0" strike="sngStrik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ko-KR" altLang="en-US" sz="1000" b="0" strike="sngStrike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분석 정확도 떨어질 수 있어 제외</a:t>
                      </a:r>
                      <a:endParaRPr lang="en-US" altLang="ko-KR" sz="1000" b="0" strike="sngStrike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endParaRPr lang="en-US" altLang="ko-KR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▶ 가중치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→ 발음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70%</a:t>
                      </a:r>
                    </a:p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→ 강세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20%</a:t>
                      </a:r>
                    </a:p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→ </a:t>
                      </a:r>
                      <a:r>
                        <a:rPr lang="ko-KR" altLang="en-US" sz="1000" b="0" dirty="0" err="1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인토네이션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10%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113806"/>
                  </a:ext>
                </a:extLst>
              </a:tr>
              <a:tr h="1047752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[AI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영역별 평가 점수 도출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▶ 응시자의 답변 음성 데이터와 대조군 비교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▶ 대조군 중 가장 유사성을 가지는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 데이터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set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 비교분석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▶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 영역에 대한 평가 점수 도출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▶ 가중치 적용하여 최종 평가 결과 도출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1000" b="0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272152"/>
                  </a:ext>
                </a:extLst>
              </a:tr>
            </a:tbl>
          </a:graphicData>
        </a:graphic>
      </p:graphicFrame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2B68931-8F4E-4F4D-B46B-86191D07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235BA-4C39-4390-9D99-BAAECBAF22EE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0981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37580-C078-FCF7-EA58-619BB12FC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635265-F67B-5A1C-EACC-E62E0E32683F}"/>
              </a:ext>
            </a:extLst>
          </p:cNvPr>
          <p:cNvSpPr txBox="1"/>
          <p:nvPr/>
        </p:nvSpPr>
        <p:spPr>
          <a:xfrm>
            <a:off x="103612" y="639152"/>
            <a:ext cx="4455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(2) Part C (Sentence Building) </a:t>
            </a:r>
            <a:r>
              <a:rPr lang="ko-KR" altLang="en-US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기준</a:t>
            </a:r>
            <a:r>
              <a:rPr lang="en-US" altLang="ko-KR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400" b="1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문장숙달성</a:t>
            </a:r>
            <a:r>
              <a:rPr lang="en-US" altLang="ko-KR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077EDF6-F0CB-F343-C183-C9572DDA162C}"/>
              </a:ext>
            </a:extLst>
          </p:cNvPr>
          <p:cNvGrpSpPr/>
          <p:nvPr/>
        </p:nvGrpSpPr>
        <p:grpSpPr>
          <a:xfrm>
            <a:off x="-11565" y="0"/>
            <a:ext cx="7960511" cy="516048"/>
            <a:chOff x="-11565" y="0"/>
            <a:chExt cx="7960511" cy="51604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E35D50F-D695-CAA8-93BF-F90203F7E861}"/>
                </a:ext>
              </a:extLst>
            </p:cNvPr>
            <p:cNvSpPr txBox="1"/>
            <p:nvPr/>
          </p:nvSpPr>
          <p:spPr>
            <a:xfrm>
              <a:off x="112665" y="67022"/>
              <a:ext cx="23857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en-US" altLang="ko-KR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2. SPAC^ </a:t>
              </a:r>
              <a:r>
                <a:rPr lang="ko-KR" altLang="en-US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평가 기준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632FD84-EDD2-813E-42D2-69AE45F9F956}"/>
                </a:ext>
              </a:extLst>
            </p:cNvPr>
            <p:cNvSpPr/>
            <p:nvPr/>
          </p:nvSpPr>
          <p:spPr>
            <a:xfrm>
              <a:off x="0" y="0"/>
              <a:ext cx="103612" cy="5160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435A5146-1E03-6DF5-D53F-1998C163CBFB}"/>
                </a:ext>
              </a:extLst>
            </p:cNvPr>
            <p:cNvCxnSpPr>
              <a:cxnSpLocks/>
            </p:cNvCxnSpPr>
            <p:nvPr/>
          </p:nvCxnSpPr>
          <p:spPr>
            <a:xfrm>
              <a:off x="-11565" y="506995"/>
              <a:ext cx="79605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F4D72E8-FB66-616A-B452-2B7023363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235BA-4C39-4390-9D99-BAAECBAF22EE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graphicFrame>
        <p:nvGraphicFramePr>
          <p:cNvPr id="11" name="object 7">
            <a:extLst>
              <a:ext uri="{FF2B5EF4-FFF2-40B4-BE49-F238E27FC236}">
                <a16:creationId xmlns:a16="http://schemas.microsoft.com/office/drawing/2014/main" id="{C188B3A8-5642-6FC8-BCF2-C64135B35B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887410"/>
              </p:ext>
            </p:extLst>
          </p:nvPr>
        </p:nvGraphicFramePr>
        <p:xfrm>
          <a:off x="207955" y="1069147"/>
          <a:ext cx="4865204" cy="429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5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69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400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기준</a:t>
                      </a:r>
                      <a:endParaRPr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평가</a:t>
                      </a:r>
                      <a:r>
                        <a:rPr sz="1000" b="1" spc="-35" dirty="0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세부</a:t>
                      </a:r>
                      <a:endParaRPr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0"/>
                    </a:solidFill>
                  </a:tcPr>
                </a:tc>
                <a:tc>
                  <a:txBody>
                    <a:bodyPr/>
                    <a:lstStyle/>
                    <a:p>
                      <a:pPr marL="21907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점수</a:t>
                      </a:r>
                      <a:endParaRPr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rowSpan="5">
                  <a:txBody>
                    <a:bodyPr/>
                    <a:lstStyle/>
                    <a:p>
                      <a:pPr marL="208279" marR="196850" algn="ctr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4개</a:t>
                      </a:r>
                      <a:r>
                        <a:rPr sz="9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b="1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모두</a:t>
                      </a:r>
                      <a:r>
                        <a:rPr sz="9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 </a:t>
                      </a:r>
                      <a:endParaRPr lang="en-US" sz="9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208279" marR="196850" algn="ctr">
                        <a:lnSpc>
                          <a:spcPct val="100000"/>
                        </a:lnSpc>
                      </a:pPr>
                      <a:r>
                        <a:rPr sz="900" b="1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답한</a:t>
                      </a:r>
                      <a:r>
                        <a:rPr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경우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</a:t>
                      </a:r>
                      <a:r>
                        <a:rPr sz="900" spc="-35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정답</a:t>
                      </a:r>
                    </a:p>
                  </a:txBody>
                  <a:tcPr marL="0" marR="0" marT="43180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367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9~10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180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3</a:t>
                      </a:r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 정답</a:t>
                      </a:r>
                      <a:endParaRPr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367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altLang="ko-KR" sz="9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7~8</a:t>
                      </a:r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  <a:endParaRPr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2개</a:t>
                      </a:r>
                      <a:r>
                        <a:rPr sz="900" spc="-35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정답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367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9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5~6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1</a:t>
                      </a:r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 정답</a:t>
                      </a:r>
                      <a:endParaRPr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367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9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</a:t>
                      </a:r>
                      <a:r>
                        <a:rPr lang="ko-KR" altLang="en-US" sz="900" baseline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  <a:endParaRPr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0개</a:t>
                      </a:r>
                      <a:r>
                        <a:rPr sz="900" spc="-35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정답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419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3점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 rowSpan="4">
                  <a:txBody>
                    <a:bodyPr/>
                    <a:lstStyle/>
                    <a:p>
                      <a:pPr marL="208279" marR="196850" algn="ctr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3개</a:t>
                      </a:r>
                      <a:r>
                        <a:rPr sz="9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만  </a:t>
                      </a:r>
                      <a:endParaRPr lang="en-US" sz="9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208279" marR="196850" algn="ctr">
                        <a:lnSpc>
                          <a:spcPct val="100000"/>
                        </a:lnSpc>
                      </a:pPr>
                      <a:r>
                        <a:rPr sz="900" b="1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답한</a:t>
                      </a:r>
                      <a:r>
                        <a:rPr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경우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3개</a:t>
                      </a:r>
                      <a:r>
                        <a:rPr sz="900" spc="-35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정답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367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6-7점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2개</a:t>
                      </a:r>
                      <a:r>
                        <a:rPr sz="900" spc="-35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정답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419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5점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1개</a:t>
                      </a:r>
                      <a:r>
                        <a:rPr sz="900" spc="-35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정답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419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0개</a:t>
                      </a:r>
                      <a:r>
                        <a:rPr sz="900" spc="-35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정답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419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3점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marL="208279" marR="196850"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2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만 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208279" marR="196850" algn="ctr">
                        <a:lnSpc>
                          <a:spcPct val="10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답한 경우</a:t>
                      </a:r>
                      <a:endParaRPr sz="900" b="1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6350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2개</a:t>
                      </a:r>
                      <a:r>
                        <a:rPr sz="900" spc="-35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정답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9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1개</a:t>
                      </a:r>
                      <a:r>
                        <a:rPr sz="900" spc="-35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정답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9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3점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0개</a:t>
                      </a:r>
                      <a:r>
                        <a:rPr sz="900" spc="-35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정답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419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2점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00">
                <a:tc rowSpan="2">
                  <a:txBody>
                    <a:bodyPr/>
                    <a:lstStyle/>
                    <a:p>
                      <a:pPr marL="208279" marR="196850" algn="ctr">
                        <a:lnSpc>
                          <a:spcPct val="100000"/>
                        </a:lnSpc>
                      </a:pPr>
                      <a:r>
                        <a:rPr lang="en-US" altLang="ko-KR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1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만 </a:t>
                      </a:r>
                    </a:p>
                    <a:p>
                      <a:pPr marL="208279" marR="196850" algn="ctr">
                        <a:lnSpc>
                          <a:spcPct val="10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답한 경우</a:t>
                      </a:r>
                    </a:p>
                  </a:txBody>
                  <a:tcPr marL="0" marR="0" marT="89535" marB="0" anchor="ctr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1개</a:t>
                      </a:r>
                      <a:r>
                        <a:rPr sz="900" spc="-35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정답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419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2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953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0개</a:t>
                      </a:r>
                      <a:r>
                        <a:rPr sz="900" spc="-35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정답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419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1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2" name="직사각형 13">
            <a:extLst>
              <a:ext uri="{FF2B5EF4-FFF2-40B4-BE49-F238E27FC236}">
                <a16:creationId xmlns:a16="http://schemas.microsoft.com/office/drawing/2014/main" id="{83E8C244-31D2-7C57-260E-2457E860F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21" y="5414680"/>
            <a:ext cx="6604918" cy="275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 시 점수는 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기준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항목을 대상으로 한 다음 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 세부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통해 최종 점수를 부여</a:t>
            </a: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한다</a:t>
            </a:r>
            <a:r>
              <a:rPr kumimoji="0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C91A11A-691C-A0D9-71C6-90C36795D271}"/>
              </a:ext>
            </a:extLst>
          </p:cNvPr>
          <p:cNvSpPr/>
          <p:nvPr/>
        </p:nvSpPr>
        <p:spPr>
          <a:xfrm>
            <a:off x="5395164" y="1069146"/>
            <a:ext cx="4865203" cy="472582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EABAF041-1CEC-FDE7-9DF3-60B4B2458067}"/>
              </a:ext>
            </a:extLst>
          </p:cNvPr>
          <p:cNvSpPr txBox="1"/>
          <p:nvPr/>
        </p:nvSpPr>
        <p:spPr>
          <a:xfrm>
            <a:off x="5595699" y="1281289"/>
            <a:ext cx="4375238" cy="43137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참고</a:t>
            </a:r>
            <a:endParaRPr lang="en-US" altLang="ko-KR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endParaRPr lang="en-US" sz="1000" b="1" dirty="0"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endParaRPr lang="en-US" sz="1000" b="1" dirty="0"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endParaRPr lang="en-US" sz="1000" b="1" dirty="0"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en-US" sz="1000" b="1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1)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들려주는 문제를 듣고 </a:t>
            </a:r>
            <a:r>
              <a:rPr lang="ko-KR" altLang="en-US" sz="10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문장구조에 맞춰 나열</a:t>
            </a:r>
            <a:r>
              <a:rPr sz="1000" b="1" dirty="0" err="1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해야한다</a:t>
            </a:r>
            <a:r>
              <a:rPr sz="1000" b="1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.</a:t>
            </a:r>
            <a:endParaRPr lang="en-US" sz="1000" b="1" dirty="0"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→ 답안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1: He gave me / some money / to buy </a:t>
            </a:r>
            <a:r>
              <a:rPr lang="en-US" altLang="ko-KR" sz="1000" u="sng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shoe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. (X)</a:t>
            </a: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→ 답안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2: </a:t>
            </a:r>
            <a:r>
              <a:rPr lang="en-US" altLang="ko-KR" sz="1000" u="sng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She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 gave me / some money / to buy shoes. (O)</a:t>
            </a: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→ 답안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3: He gave me / some money / to buy shoes. (O)</a:t>
            </a: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※ 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문장 중 </a:t>
            </a:r>
            <a:r>
              <a:rPr lang="ko-KR" altLang="en-US" sz="1000" u="sng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일부만 녹음되어 있을 경우 틀린 것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으로 간주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※ 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문장을 </a:t>
            </a:r>
            <a:r>
              <a:rPr lang="ko-KR" altLang="en-US" sz="1000" u="sng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번복해서 틀린 문장으로 발화했을 경우 틀린 것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으로 간주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    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단 문장을 </a:t>
            </a:r>
            <a:r>
              <a:rPr lang="ko-KR" altLang="en-US" sz="1000" u="sng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번복해서 맞는 문장으로 발화했을 경우 맞는 것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으로 간주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※ 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주어를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He -&gt; She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로 발화하여도 문법적인 오류가 없다면 정답으로 간주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en-US" sz="1000" b="1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2)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기준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–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평가세부 확인 후 점수를 부여한다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.</a:t>
            </a: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▷ 예시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1: 4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개 대답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1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개 정답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(4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점 부여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)</a:t>
            </a: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▷ 예시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2: 4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개 대답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3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개 정답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(7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점 부여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)</a:t>
            </a: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※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단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4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개 중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3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개가 정답이지만 </a:t>
            </a:r>
            <a:r>
              <a:rPr lang="en-US" altLang="ko-KR" sz="10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ah, a, um </a:t>
            </a:r>
            <a:r>
              <a:rPr lang="ko-KR" altLang="en-US" sz="10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등과 같은 </a:t>
            </a:r>
            <a:r>
              <a:rPr lang="en-US" altLang="ko-KR" sz="10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filler</a:t>
            </a:r>
            <a:r>
              <a:rPr lang="ko-KR" altLang="en-US" sz="10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없이</a:t>
            </a:r>
            <a:endParaRPr lang="en-US" altLang="ko-KR" sz="1000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en-US" altLang="ko-KR" sz="10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  </a:t>
            </a:r>
            <a:r>
              <a:rPr lang="ko-KR" altLang="en-US" sz="10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 </a:t>
            </a:r>
            <a:r>
              <a:rPr lang="en-US" altLang="ko-KR" sz="10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(</a:t>
            </a:r>
            <a:r>
              <a:rPr lang="ko-KR" altLang="en-US" sz="10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머뭇거림 없이</a:t>
            </a:r>
            <a:r>
              <a:rPr lang="en-US" altLang="ko-KR" sz="10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) </a:t>
            </a:r>
            <a:r>
              <a:rPr lang="ko-KR" altLang="en-US" sz="10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자연스럽게 발화한 경우 상위 점수</a:t>
            </a:r>
            <a:r>
              <a:rPr lang="en-US" altLang="ko-KR" sz="10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(8</a:t>
            </a:r>
            <a:r>
              <a:rPr lang="ko-KR" altLang="en-US" sz="10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점</a:t>
            </a:r>
            <a:r>
              <a:rPr lang="en-US" altLang="ko-KR" sz="10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)</a:t>
            </a:r>
            <a:r>
              <a:rPr lang="ko-KR" altLang="en-US" sz="10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로 적용 </a:t>
            </a:r>
            <a:endParaRPr lang="en-US" altLang="ko-KR" sz="1000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endParaRPr lang="en-US" altLang="ko-KR" sz="10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3) </a:t>
            </a:r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관사 누락</a:t>
            </a:r>
            <a:endParaRPr lang="en-US" altLang="ko-KR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&gt; </a:t>
            </a:r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기본적으로 관사 누락은 오답으로 처리하지 않고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1</a:t>
            </a:r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회 이상 관사 누락이 있는 경우 최종 점수에서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1</a:t>
            </a:r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점 감점한다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.</a:t>
            </a:r>
            <a:endParaRPr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06D520C-C610-6888-81E7-4BF35B7E8700}"/>
              </a:ext>
            </a:extLst>
          </p:cNvPr>
          <p:cNvSpPr/>
          <p:nvPr/>
        </p:nvSpPr>
        <p:spPr>
          <a:xfrm>
            <a:off x="5612150" y="1561830"/>
            <a:ext cx="3705225" cy="3733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▷ 예시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: some money / to buy shoes / he gave me </a:t>
            </a:r>
          </a:p>
        </p:txBody>
      </p:sp>
    </p:spTree>
    <p:extLst>
      <p:ext uri="{BB962C8B-B14F-4D97-AF65-F5344CB8AC3E}">
        <p14:creationId xmlns:p14="http://schemas.microsoft.com/office/powerpoint/2010/main" val="3991372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7E089EE-FCBE-446F-B307-C1E337E1C863}"/>
              </a:ext>
            </a:extLst>
          </p:cNvPr>
          <p:cNvSpPr/>
          <p:nvPr/>
        </p:nvSpPr>
        <p:spPr>
          <a:xfrm>
            <a:off x="4896464" y="1374549"/>
            <a:ext cx="6216352" cy="270049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BF0EA6C-70B3-4FB1-98CF-88DF74667626}"/>
              </a:ext>
            </a:extLst>
          </p:cNvPr>
          <p:cNvSpPr txBox="1"/>
          <p:nvPr/>
        </p:nvSpPr>
        <p:spPr>
          <a:xfrm>
            <a:off x="5169216" y="1689604"/>
            <a:ext cx="5943600" cy="19664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en-US" altLang="ko-KR" sz="14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&lt; </a:t>
            </a:r>
            <a:r>
              <a:rPr lang="ko-KR" altLang="en-US" sz="14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평가 가이드 </a:t>
            </a:r>
            <a:r>
              <a:rPr lang="en-US" altLang="ko-KR" sz="14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&gt;</a:t>
            </a: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1000" b="1" dirty="0">
                <a:solidFill>
                  <a:srgbClr val="0033CC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각 스토리마다 총 </a:t>
            </a:r>
            <a:r>
              <a:rPr lang="en-US" altLang="ko-KR" sz="1000" b="1" dirty="0">
                <a:solidFill>
                  <a:srgbClr val="0033CC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8</a:t>
            </a:r>
            <a:r>
              <a:rPr lang="ko-KR" altLang="en-US" sz="1000" b="1" dirty="0">
                <a:solidFill>
                  <a:srgbClr val="0033CC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개 전달 요소를 포함하고 있음</a:t>
            </a:r>
            <a:endParaRPr lang="en-US" altLang="ko-KR" sz="1000" b="1" dirty="0">
              <a:solidFill>
                <a:srgbClr val="0033CC"/>
              </a:solidFill>
              <a:highlight>
                <a:srgbClr val="FFFF00"/>
              </a:highlight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1000" b="1" dirty="0">
                <a:solidFill>
                  <a:srgbClr val="0033CC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전달 요소에 따라 </a:t>
            </a:r>
            <a:r>
              <a:rPr lang="en-US" altLang="ko-KR" sz="1000" b="1" dirty="0">
                <a:solidFill>
                  <a:srgbClr val="0033CC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0.5</a:t>
            </a:r>
            <a:r>
              <a:rPr lang="ko-KR" altLang="en-US" sz="1000" b="1" dirty="0">
                <a:solidFill>
                  <a:srgbClr val="0033CC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개 혹은 </a:t>
            </a:r>
            <a:r>
              <a:rPr lang="en-US" altLang="ko-KR" sz="1000" b="1" dirty="0">
                <a:solidFill>
                  <a:srgbClr val="0033CC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1</a:t>
            </a:r>
            <a:r>
              <a:rPr lang="ko-KR" altLang="en-US" sz="1000" b="1" dirty="0">
                <a:solidFill>
                  <a:srgbClr val="0033CC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개로 </a:t>
            </a:r>
            <a:r>
              <a:rPr lang="ko-KR" altLang="en-US" sz="1000" b="1" dirty="0" err="1">
                <a:solidFill>
                  <a:srgbClr val="0033CC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카운팅</a:t>
            </a:r>
            <a:r>
              <a:rPr lang="ko-KR" altLang="en-US" sz="1000" b="1" dirty="0">
                <a:solidFill>
                  <a:srgbClr val="0033CC"/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 함</a:t>
            </a:r>
            <a:endParaRPr lang="en-US" altLang="ko-KR" sz="1000" b="1" dirty="0">
              <a:solidFill>
                <a:srgbClr val="0033CC"/>
              </a:solidFill>
              <a:highlight>
                <a:srgbClr val="FFFF00"/>
              </a:highlight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endParaRPr lang="en-US" sz="1000" b="1" dirty="0">
              <a:solidFill>
                <a:srgbClr val="0033CC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1) 8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개의 문장에서 빨간색의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core sentence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또는 키워드를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말하였으면 정답으로 인정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25400">
              <a:spcBef>
                <a:spcPts val="40"/>
              </a:spcBef>
            </a:pP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2) Core sentence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와 의미가 동일한 단어로 대체했을 경우 맞는 것으로 간주</a:t>
            </a:r>
            <a:endParaRPr lang="en-US" altLang="ko-KR" sz="1000" b="1" dirty="0"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▷ 예시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: cold</a:t>
            </a: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       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녹음 파일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: flu, influenza, sore throat,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coldache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 (O)</a:t>
            </a: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endParaRPr lang="en-US" sz="1000" dirty="0"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en-US" altLang="ko-KR" sz="1000" dirty="0">
                <a:solidFill>
                  <a:srgbClr val="0033C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※ </a:t>
            </a:r>
            <a:r>
              <a:rPr lang="ko-KR" altLang="en-US" sz="1000" dirty="0">
                <a:solidFill>
                  <a:srgbClr val="0033C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사전에도 존재하지 않거나 의미가 다르게 해석 혹은</a:t>
            </a:r>
            <a:r>
              <a:rPr lang="en-US" altLang="ko-KR" sz="1000" dirty="0">
                <a:solidFill>
                  <a:srgbClr val="0033C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 </a:t>
            </a:r>
            <a:r>
              <a:rPr lang="ko-KR" altLang="en-US" sz="1000" dirty="0">
                <a:solidFill>
                  <a:srgbClr val="0033C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해석이 되지 않을 시</a:t>
            </a:r>
            <a:r>
              <a:rPr lang="en-US" altLang="ko-KR" sz="1000" dirty="0">
                <a:solidFill>
                  <a:srgbClr val="0033C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, </a:t>
            </a:r>
            <a:r>
              <a:rPr lang="ko-KR" altLang="en-US" sz="1000" dirty="0">
                <a:solidFill>
                  <a:srgbClr val="0033C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오답으로 처리</a:t>
            </a:r>
            <a:endParaRPr lang="en-US" altLang="ko-KR" sz="1000" dirty="0">
              <a:solidFill>
                <a:srgbClr val="0033CC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C4BB378-97F1-40A2-9A7B-F28A1FF2A0FF}"/>
              </a:ext>
            </a:extLst>
          </p:cNvPr>
          <p:cNvSpPr/>
          <p:nvPr/>
        </p:nvSpPr>
        <p:spPr>
          <a:xfrm>
            <a:off x="580387" y="1374549"/>
            <a:ext cx="836995" cy="2286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/>
              <a:t>예시문제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61A424C-3A73-424E-A858-03CC73CB2DE7}"/>
              </a:ext>
            </a:extLst>
          </p:cNvPr>
          <p:cNvGrpSpPr/>
          <p:nvPr/>
        </p:nvGrpSpPr>
        <p:grpSpPr>
          <a:xfrm>
            <a:off x="521395" y="1689604"/>
            <a:ext cx="3943006" cy="1446550"/>
            <a:chOff x="1735974" y="1278774"/>
            <a:chExt cx="3589713" cy="1446550"/>
          </a:xfrm>
        </p:grpSpPr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990DF6CC-8DD3-4CF8-82FD-1A3BC16232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5058" y="1313409"/>
              <a:ext cx="3290629" cy="13537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539B687-C1D2-4E30-A80C-2647EDED9E81}"/>
                </a:ext>
              </a:extLst>
            </p:cNvPr>
            <p:cNvSpPr txBox="1"/>
            <p:nvPr/>
          </p:nvSpPr>
          <p:spPr>
            <a:xfrm>
              <a:off x="1735974" y="1278774"/>
              <a:ext cx="30480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ko-KR" altLang="en-US" sz="1000" dirty="0"/>
                <a:t>①②③④⑤⑥⑦⑧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6DF1FCD-3169-1143-5EA6-F88B0BFFDC25}"/>
              </a:ext>
            </a:extLst>
          </p:cNvPr>
          <p:cNvSpPr txBox="1"/>
          <p:nvPr/>
        </p:nvSpPr>
        <p:spPr>
          <a:xfrm>
            <a:off x="103612" y="639152"/>
            <a:ext cx="3928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(2) Part E (Story Retelling) </a:t>
            </a:r>
            <a:r>
              <a:rPr lang="ko-KR" altLang="en-US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기준</a:t>
            </a:r>
            <a:r>
              <a:rPr lang="en-US" altLang="ko-KR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개요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BA111B5-2645-1730-F2BE-2DF25BA42BEF}"/>
              </a:ext>
            </a:extLst>
          </p:cNvPr>
          <p:cNvGrpSpPr/>
          <p:nvPr/>
        </p:nvGrpSpPr>
        <p:grpSpPr>
          <a:xfrm>
            <a:off x="-11565" y="0"/>
            <a:ext cx="7960511" cy="516048"/>
            <a:chOff x="-11565" y="0"/>
            <a:chExt cx="7960511" cy="51604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72F8761-0C21-CD7A-67F5-6850BC83ECF3}"/>
                </a:ext>
              </a:extLst>
            </p:cNvPr>
            <p:cNvSpPr txBox="1"/>
            <p:nvPr/>
          </p:nvSpPr>
          <p:spPr>
            <a:xfrm>
              <a:off x="112665" y="67022"/>
              <a:ext cx="23857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en-US" altLang="ko-KR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2. SPAC^ </a:t>
              </a:r>
              <a:r>
                <a:rPr lang="ko-KR" altLang="en-US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평가 기준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60DD879-0A4E-1145-B93C-696F355B3A91}"/>
                </a:ext>
              </a:extLst>
            </p:cNvPr>
            <p:cNvSpPr/>
            <p:nvPr/>
          </p:nvSpPr>
          <p:spPr>
            <a:xfrm>
              <a:off x="0" y="0"/>
              <a:ext cx="103612" cy="5160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76E3F168-F810-1253-719E-B7EFF127B428}"/>
                </a:ext>
              </a:extLst>
            </p:cNvPr>
            <p:cNvCxnSpPr>
              <a:cxnSpLocks/>
            </p:cNvCxnSpPr>
            <p:nvPr/>
          </p:nvCxnSpPr>
          <p:spPr>
            <a:xfrm>
              <a:off x="-11565" y="506995"/>
              <a:ext cx="79605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8960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412C9D7-301E-4F90-BCD4-95138751C5B7}"/>
              </a:ext>
            </a:extLst>
          </p:cNvPr>
          <p:cNvSpPr txBox="1"/>
          <p:nvPr/>
        </p:nvSpPr>
        <p:spPr>
          <a:xfrm>
            <a:off x="361335" y="1079085"/>
            <a:ext cx="4711546" cy="5517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ko-KR" sz="1000" b="1" dirty="0">
                <a:highlight>
                  <a:srgbClr val="C0C0C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Story 1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When Peter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came home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(0.5),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felt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very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sick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(0.5). 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The next day, 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went to see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doctor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The doctor told him that 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had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cold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and 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needed to rest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But, 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went back to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his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office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and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worked late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 The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next morning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felt worse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(6) So, 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took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day off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and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was worried about</a:t>
            </a:r>
            <a:r>
              <a:rPr lang="en-US" altLang="ko-KR" sz="10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his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work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(7) When 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went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back to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work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the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next day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(8) he found that his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partner did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his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work for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him. 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*partner 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대신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coworker 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 직장동료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직원의 의미 전달하면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4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4000"/>
              </a:lnSpc>
            </a:pPr>
            <a:r>
              <a:rPr lang="en-US" altLang="ko-KR" sz="1000" b="1" dirty="0">
                <a:highlight>
                  <a:srgbClr val="C0C0C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Story 2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It was a very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sunny morning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so Tom's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family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decided to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go on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picnic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They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prepared food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and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went to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 nearest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park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They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put the food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out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on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 picnic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table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 When they were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about to eat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(0.5),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it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started to rain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hard.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(6) Sadly, they had to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repack everything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and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go back home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(7)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At home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Tom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cooked chicken soup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and baked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cheesecake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(8) All his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family</a:t>
            </a:r>
            <a:r>
              <a:rPr lang="en-US" altLang="ko-KR" sz="10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enjoyed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them very much.</a:t>
            </a:r>
          </a:p>
          <a:p>
            <a:pPr>
              <a:lnSpc>
                <a:spcPct val="114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4000"/>
              </a:lnSpc>
            </a:pPr>
            <a:r>
              <a:rPr lang="en-US" altLang="ko-KR" sz="1000" b="1" dirty="0">
                <a:highlight>
                  <a:srgbClr val="C0C0C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Story 3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Jason has been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driving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taxi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for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six years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Last week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dropped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his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customer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off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at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airport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There, 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met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his favorite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movie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star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so 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ran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up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to him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to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take pictures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 It was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hard to take pictures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because of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many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bodyguards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(6) Finally, 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took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some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pictures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(7) but his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taxi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had been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towed away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(8) So he had to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pay a fine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to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get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his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taxi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back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D5B5A4-BD81-46C6-AEBB-8C35EAECB575}"/>
              </a:ext>
            </a:extLst>
          </p:cNvPr>
          <p:cNvSpPr txBox="1"/>
          <p:nvPr/>
        </p:nvSpPr>
        <p:spPr>
          <a:xfrm>
            <a:off x="6362084" y="1079085"/>
            <a:ext cx="5672599" cy="5517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ko-KR" sz="1000" b="1" dirty="0">
                <a:highlight>
                  <a:srgbClr val="C0C0C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Story 4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Cindy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is my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best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friend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*Cindy 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대신 다른 이름 말해도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We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worked at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same company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until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she had to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move to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US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We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called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each other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every day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and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talked on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phone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 A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month later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I was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shocked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after seeing my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phone bill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*phone bill/charge 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금액 때문에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놀랐다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충격 받았다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의미 전달되면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(6) The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amount was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almost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half of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my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monthly salary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(7) Now we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talk on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phone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only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once a week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(8) but our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friendship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has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improved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4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4000"/>
              </a:lnSpc>
            </a:pPr>
            <a:r>
              <a:rPr lang="en-US" altLang="ko-KR" sz="1000" b="1" dirty="0">
                <a:highlight>
                  <a:srgbClr val="C0C0C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Story 5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Jane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is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shopaholic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*Jane 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대신 다른 이름 말해도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One day, she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went to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department store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*shopping center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도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She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bought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some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clothes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that were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on sale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She was so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happy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that she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saved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 lot of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money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 She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came home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and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tried on</a:t>
            </a:r>
            <a:r>
              <a:rPr lang="en-US" altLang="ko-KR" sz="10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 new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clothes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she had bought,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(6) but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none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of them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fit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her.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(7) She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bought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them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without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checking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the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size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(8) So, she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donated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all the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clothes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to a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women’s shelter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4000"/>
              </a:lnSpc>
            </a:pPr>
            <a:r>
              <a:rPr lang="en-US" altLang="ko-KR" sz="1000" b="1" dirty="0">
                <a:highlight>
                  <a:srgbClr val="C0C0C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Story 6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Danny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first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met Sally (0.5) ten years ago 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등장인물 이름 변경되어도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They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dated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for about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six months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Things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didn’t work out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(0.5),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so they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broke up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and moved on.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However,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last year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ran into her (0.5) at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restaurant 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*[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식당에서 작년에 다시 만나게 되었다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의미 전달되면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 They started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to see each other again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(6) This time,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after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eight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months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they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got married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(7) They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had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son 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next year 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(8) and they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have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daughter 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on the way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this winter 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58FCFA-0982-004C-79F6-D381E5FC007B}"/>
              </a:ext>
            </a:extLst>
          </p:cNvPr>
          <p:cNvSpPr txBox="1"/>
          <p:nvPr/>
        </p:nvSpPr>
        <p:spPr>
          <a:xfrm>
            <a:off x="103612" y="639152"/>
            <a:ext cx="59787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(2) Part E (Story Retelling) </a:t>
            </a:r>
            <a:r>
              <a:rPr lang="ko-KR" altLang="en-US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기준</a:t>
            </a:r>
            <a:r>
              <a:rPr lang="en-US" altLang="ko-KR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스토리 핵심 요소 </a:t>
            </a:r>
            <a:r>
              <a:rPr lang="ko-KR" altLang="en-US" sz="1400" b="1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r>
              <a:rPr lang="ko-KR" altLang="en-US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가이드라인</a:t>
            </a:r>
            <a:r>
              <a:rPr lang="en-US" altLang="ko-KR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F6F398-8838-567D-1B4F-8BAC579E7A92}"/>
              </a:ext>
            </a:extLst>
          </p:cNvPr>
          <p:cNvGrpSpPr/>
          <p:nvPr/>
        </p:nvGrpSpPr>
        <p:grpSpPr>
          <a:xfrm>
            <a:off x="-11565" y="0"/>
            <a:ext cx="7960511" cy="516048"/>
            <a:chOff x="-11565" y="0"/>
            <a:chExt cx="7960511" cy="51604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C29793F-1898-C909-0D1B-573655E2CF8B}"/>
                </a:ext>
              </a:extLst>
            </p:cNvPr>
            <p:cNvSpPr txBox="1"/>
            <p:nvPr/>
          </p:nvSpPr>
          <p:spPr>
            <a:xfrm>
              <a:off x="112665" y="67022"/>
              <a:ext cx="23857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en-US" altLang="ko-KR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2. SPAC^ </a:t>
              </a:r>
              <a:r>
                <a:rPr lang="ko-KR" altLang="en-US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평가 기준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1CE1292-C635-B374-A326-3E9F6461310F}"/>
                </a:ext>
              </a:extLst>
            </p:cNvPr>
            <p:cNvSpPr/>
            <p:nvPr/>
          </p:nvSpPr>
          <p:spPr>
            <a:xfrm>
              <a:off x="0" y="0"/>
              <a:ext cx="103612" cy="5160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99DAC1A-D539-CBAD-418C-E8F5C89FCC70}"/>
                </a:ext>
              </a:extLst>
            </p:cNvPr>
            <p:cNvCxnSpPr>
              <a:cxnSpLocks/>
            </p:cNvCxnSpPr>
            <p:nvPr/>
          </p:nvCxnSpPr>
          <p:spPr>
            <a:xfrm>
              <a:off x="-11565" y="506995"/>
              <a:ext cx="79605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90361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412C9D7-301E-4F90-BCD4-95138751C5B7}"/>
              </a:ext>
            </a:extLst>
          </p:cNvPr>
          <p:cNvSpPr txBox="1"/>
          <p:nvPr/>
        </p:nvSpPr>
        <p:spPr>
          <a:xfrm>
            <a:off x="361335" y="1088227"/>
            <a:ext cx="6026009" cy="5666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000" b="1" dirty="0">
                <a:highlight>
                  <a:srgbClr val="C0C0C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Story 7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My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mother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had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plastic surgery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 few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weeks ago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At first, she was very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pleased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with her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new look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*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수술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new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nose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도 같은 의미로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but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two weeks later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she started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having nose pain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She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visited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clinic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to complain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 but the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clinic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was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closed down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(6) She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tried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every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possible means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to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find the doctor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(7) Then she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realized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that she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was a fake doctor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(8) She needed to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have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plastic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surgery again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to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fix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her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nose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*fix the problem, pain relief 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 현 상황을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better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하게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만들기 위해 수술을 한다는 의미 전달되면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1000" b="1" dirty="0">
                <a:highlight>
                  <a:srgbClr val="C0C0C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Story 8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Tom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went to a restaurant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for lunch.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*Tom 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대신 다른 이름 말해도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When Tom was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about to eat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his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sandwich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a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waiter came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to him and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told him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went to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same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middle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school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as Tom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같은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학교 다녔단 의미 전달되면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 The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waiter showed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an old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picture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of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Tom and himself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*Tom 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대신 다른 이름 말해도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(6) Finally, Tom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remembered playing together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with the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waiter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at school.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(7) Tom and the waiter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hugged each other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(8)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Luckily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Tom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had free lunch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that day.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1000" b="1" dirty="0">
                <a:highlight>
                  <a:srgbClr val="C0C0C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Story 9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Alex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opened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 Japanese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restaurant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 California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Everyone liked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his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restaurant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so it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was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always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busy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 few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years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became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very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rich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wanted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to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do new things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with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his big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money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 so 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opened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 fabulous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Italian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restaurant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suburb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(6) However, Alex's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new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Italian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restaurant did not do well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(7)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People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there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didn't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enjoy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the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Italian cuisine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(8) so he couldn't help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closing down</a:t>
            </a:r>
            <a:r>
              <a:rPr lang="en-US" altLang="ko-KR" sz="10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 Italian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restaurant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D5B5A4-BD81-46C6-AEBB-8C35EAECB575}"/>
              </a:ext>
            </a:extLst>
          </p:cNvPr>
          <p:cNvSpPr txBox="1"/>
          <p:nvPr/>
        </p:nvSpPr>
        <p:spPr>
          <a:xfrm>
            <a:off x="6314459" y="1088227"/>
            <a:ext cx="5877541" cy="5328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Story 10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Andrew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was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preparing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for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his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final exam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*Andrew 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대신 다른 이름 말해도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studied hard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to get good results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A day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before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exam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his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friends asked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him to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go for a drink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He was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worried about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exam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but 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couldn’t say no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to him.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 So, 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went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out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to have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just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one drink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(6) but 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couldn’t stop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drinking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(7) and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fell asleep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at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bar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(8) So, 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missed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his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exam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and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attended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school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for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another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year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Story 11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My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family went camping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at a lake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last weekend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One night, we were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playing cards in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tent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Suddenly, we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heard something outside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It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was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bear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 It started to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get closer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to us and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dig into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our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food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(6) We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were afraid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so we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were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absolutely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silent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                            *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아무말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하지 않았다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조용히 했다 의 의미 전달되면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(7) At that time, a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park ranger appeared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and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(8) the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bear got away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Then we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felt relieved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Story12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My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aunt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has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15-year-old son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나이는 다르게 말해도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When 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was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young boy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didn’t like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to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sleep at night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so she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read books every night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One night, she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was reading books to him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as usual, 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and she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fell asleep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 his room.</a:t>
            </a: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 When she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woke up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next morning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*next day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도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(6) she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realized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it was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almost 10 o’clock 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!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시간 정확하게 언급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(7) So, she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ran to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her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office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(8)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but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it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was Sunday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657A3D-B4CB-2C04-1952-74CB9BC647BD}"/>
              </a:ext>
            </a:extLst>
          </p:cNvPr>
          <p:cNvSpPr txBox="1"/>
          <p:nvPr/>
        </p:nvSpPr>
        <p:spPr>
          <a:xfrm>
            <a:off x="103612" y="639152"/>
            <a:ext cx="59787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(2) Part E (Story Retelling) </a:t>
            </a:r>
            <a:r>
              <a:rPr lang="ko-KR" altLang="en-US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기준</a:t>
            </a:r>
            <a:r>
              <a:rPr lang="en-US" altLang="ko-KR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스토리 핵심 요소 </a:t>
            </a:r>
            <a:r>
              <a:rPr lang="ko-KR" altLang="en-US" sz="1400" b="1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r>
              <a:rPr lang="ko-KR" altLang="en-US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가이드라인</a:t>
            </a:r>
            <a:r>
              <a:rPr lang="en-US" altLang="ko-KR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E93611D-9BB7-F3DC-ECE7-4B0E80D49E44}"/>
              </a:ext>
            </a:extLst>
          </p:cNvPr>
          <p:cNvGrpSpPr/>
          <p:nvPr/>
        </p:nvGrpSpPr>
        <p:grpSpPr>
          <a:xfrm>
            <a:off x="-11565" y="0"/>
            <a:ext cx="7960511" cy="516048"/>
            <a:chOff x="-11565" y="0"/>
            <a:chExt cx="7960511" cy="51604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DE1DE07-836C-BB5A-9F82-EB561CD19699}"/>
                </a:ext>
              </a:extLst>
            </p:cNvPr>
            <p:cNvSpPr txBox="1"/>
            <p:nvPr/>
          </p:nvSpPr>
          <p:spPr>
            <a:xfrm>
              <a:off x="112665" y="67022"/>
              <a:ext cx="23857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en-US" altLang="ko-KR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2. SPAC^ </a:t>
              </a:r>
              <a:r>
                <a:rPr lang="ko-KR" altLang="en-US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평가 기준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8317142-B7BE-54C4-5695-60605848856B}"/>
                </a:ext>
              </a:extLst>
            </p:cNvPr>
            <p:cNvSpPr/>
            <p:nvPr/>
          </p:nvSpPr>
          <p:spPr>
            <a:xfrm>
              <a:off x="0" y="0"/>
              <a:ext cx="103612" cy="5160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F80D3CF2-CE85-C694-A5E4-817C5A6994C0}"/>
                </a:ext>
              </a:extLst>
            </p:cNvPr>
            <p:cNvCxnSpPr>
              <a:cxnSpLocks/>
            </p:cNvCxnSpPr>
            <p:nvPr/>
          </p:nvCxnSpPr>
          <p:spPr>
            <a:xfrm>
              <a:off x="-11565" y="506995"/>
              <a:ext cx="79605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40721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412C9D7-301E-4F90-BCD4-95138751C5B7}"/>
              </a:ext>
            </a:extLst>
          </p:cNvPr>
          <p:cNvSpPr txBox="1"/>
          <p:nvPr/>
        </p:nvSpPr>
        <p:spPr>
          <a:xfrm>
            <a:off x="361335" y="1050548"/>
            <a:ext cx="5642891" cy="5342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ko-KR" sz="1000" b="1" dirty="0">
                <a:highlight>
                  <a:srgbClr val="C0C0C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Story 13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Steve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and his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wife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Sarah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both work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이름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다르게 말해도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so they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hired a nanny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to take care of</a:t>
            </a:r>
            <a:r>
              <a:rPr lang="en-US" altLang="ko-KR" sz="10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their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children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One day, the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nanny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was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supposed to come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*supposed 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대신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should 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사용 가능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by at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 o'clock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but she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did not show up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 Steve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called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nanny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(6) but she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didn't answer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phone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(7)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Steve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and his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wife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had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 very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important meeting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* he and she 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혹은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they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지칭하여도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(8) so Steve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called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his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mother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for help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4000"/>
              </a:lnSpc>
            </a:pPr>
            <a:r>
              <a:rPr lang="en-US" altLang="ko-KR" sz="1000" b="1" dirty="0">
                <a:highlight>
                  <a:srgbClr val="C0C0C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Story 14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It was my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friend’s birthday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yesterday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We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had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party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at his house. His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wife prepared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delicious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food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for us.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When we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were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about to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light up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birthday candles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his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dog jumped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onto the table and knocked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over my friend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 Then my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friend’s face smashed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into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his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birthday cake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(6) Suddenly, the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dog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started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licking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my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friend’s face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(7) We all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laughed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(8) It was one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unforgettable memory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4000"/>
              </a:lnSpc>
            </a:pPr>
            <a:r>
              <a:rPr lang="en-US" altLang="ko-KR" sz="1000" b="1" dirty="0">
                <a:highlight>
                  <a:srgbClr val="C0C0C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Story 15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Jimmy’s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parents bought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three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lottery tickets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The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tickets were chances to win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new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cars 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They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wrote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Jimmy’s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name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on one ticket.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*his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name 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혹은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my name 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이라 하여도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When the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ticket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was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picked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it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was Jimmy’s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이름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다르게 말해도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 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received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sports car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but 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didn’t have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driver’s license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(6) So, 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took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driving test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but he kept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failing the test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(7) Jimmy is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still taking the test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and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(8) his sports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car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has been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sitting in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garage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for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year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D5B5A4-BD81-46C6-AEBB-8C35EAECB575}"/>
              </a:ext>
            </a:extLst>
          </p:cNvPr>
          <p:cNvSpPr txBox="1"/>
          <p:nvPr/>
        </p:nvSpPr>
        <p:spPr>
          <a:xfrm>
            <a:off x="6362084" y="1050548"/>
            <a:ext cx="5672599" cy="5517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ko-KR" sz="1000" b="1" dirty="0">
                <a:highlight>
                  <a:srgbClr val="C0C0C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Story 16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Peter broke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his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leg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last week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이름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다르게 말해도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so he had to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take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taxi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to work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One morning, Peter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got in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taxi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and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fell asleep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After a while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(0.5),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woke up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and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 realized that the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driver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was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going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wrong way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(6) 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stopped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taxi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immediately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(7) but he was already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late to work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(8) He had to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call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his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boss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for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an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excuse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4000"/>
              </a:lnSpc>
            </a:pPr>
            <a:r>
              <a:rPr lang="en-US" altLang="ko-KR" sz="1000" b="1" dirty="0">
                <a:highlight>
                  <a:srgbClr val="C0C0C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Story 17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I was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at the LA airport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*LA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빠지거나 다른 곳 말하면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0.5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I was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waiting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for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my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flight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at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boarding gate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there I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saw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one of my favorite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actresses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So, I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followed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to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take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her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picture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While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I was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following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her, I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totally forgot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about</a:t>
            </a:r>
            <a:r>
              <a:rPr lang="en-US" altLang="ko-KR" sz="10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my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flight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(6) When I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got back to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gate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(7) I realized that I had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missed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my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flight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(8) so I had to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buy another ticket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4000"/>
              </a:lnSpc>
            </a:pPr>
            <a:r>
              <a:rPr lang="en-US" altLang="ko-KR" sz="1000" b="1" dirty="0">
                <a:highlight>
                  <a:srgbClr val="C0C0C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Story 18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My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mother put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her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diamond necklace on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table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and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went out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When she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came back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she found that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it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had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disappeared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She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called the police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 but 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police could not find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thief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 *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범인을 못 찾은 것은 목걸이를 찾을 수 없었다 로 해석될 수 있음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(6) The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next day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her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dog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started to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choke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(7) so she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took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it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to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animal hospital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and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took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an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x-ray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(8) On the x-ray, she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could see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her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necklace in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its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stomach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*X-ray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뱃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속에 있는 목걸이가 보였다 로 해석해도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DF64BD-6791-CB0F-C8DC-5F674243BCFC}"/>
              </a:ext>
            </a:extLst>
          </p:cNvPr>
          <p:cNvSpPr txBox="1"/>
          <p:nvPr/>
        </p:nvSpPr>
        <p:spPr>
          <a:xfrm>
            <a:off x="103612" y="639152"/>
            <a:ext cx="59787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(2) Part E (Story Retelling) </a:t>
            </a:r>
            <a:r>
              <a:rPr lang="ko-KR" altLang="en-US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기준</a:t>
            </a:r>
            <a:r>
              <a:rPr lang="en-US" altLang="ko-KR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스토리 핵심 요소 </a:t>
            </a:r>
            <a:r>
              <a:rPr lang="ko-KR" altLang="en-US" sz="1400" b="1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r>
              <a:rPr lang="ko-KR" altLang="en-US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가이드라인</a:t>
            </a:r>
            <a:r>
              <a:rPr lang="en-US" altLang="ko-KR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6E1616A-8C72-2A6F-D8A4-7CFC530C1AD3}"/>
              </a:ext>
            </a:extLst>
          </p:cNvPr>
          <p:cNvGrpSpPr/>
          <p:nvPr/>
        </p:nvGrpSpPr>
        <p:grpSpPr>
          <a:xfrm>
            <a:off x="-11565" y="0"/>
            <a:ext cx="7960511" cy="516048"/>
            <a:chOff x="-11565" y="0"/>
            <a:chExt cx="7960511" cy="51604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97BCF0E-D7FF-9325-EB43-3D98BF9D3475}"/>
                </a:ext>
              </a:extLst>
            </p:cNvPr>
            <p:cNvSpPr txBox="1"/>
            <p:nvPr/>
          </p:nvSpPr>
          <p:spPr>
            <a:xfrm>
              <a:off x="112665" y="67022"/>
              <a:ext cx="23857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en-US" altLang="ko-KR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2. SPAC^ </a:t>
              </a:r>
              <a:r>
                <a:rPr lang="ko-KR" altLang="en-US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평가 기준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E805E89-8636-05FA-5661-639D373E40C4}"/>
                </a:ext>
              </a:extLst>
            </p:cNvPr>
            <p:cNvSpPr/>
            <p:nvPr/>
          </p:nvSpPr>
          <p:spPr>
            <a:xfrm>
              <a:off x="0" y="0"/>
              <a:ext cx="103612" cy="5160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FF08AC91-64D0-045B-7FEE-0A38B6492244}"/>
                </a:ext>
              </a:extLst>
            </p:cNvPr>
            <p:cNvCxnSpPr>
              <a:cxnSpLocks/>
            </p:cNvCxnSpPr>
            <p:nvPr/>
          </p:nvCxnSpPr>
          <p:spPr>
            <a:xfrm>
              <a:off x="-11565" y="506995"/>
              <a:ext cx="79605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20489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412C9D7-301E-4F90-BCD4-95138751C5B7}"/>
              </a:ext>
            </a:extLst>
          </p:cNvPr>
          <p:cNvSpPr txBox="1"/>
          <p:nvPr/>
        </p:nvSpPr>
        <p:spPr>
          <a:xfrm>
            <a:off x="361335" y="1115854"/>
            <a:ext cx="7019870" cy="39549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b="1" dirty="0">
                <a:highlight>
                  <a:srgbClr val="C0C0C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Story 19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My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father bought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 brand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new car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last week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누구의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father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인지 누락 혹은 다른 이름 말해도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One morning, he woke up and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went to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parking lot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to see the car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However, 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couldn't find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his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car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parking lot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thought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that his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car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had been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stolen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!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 And he realized that 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didn't lock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car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last night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(6) He called the police and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while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he was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calling the police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(7) his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car came in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to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parking lot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(8) It was his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son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who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took the car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000" b="1" dirty="0">
                <a:highlight>
                  <a:srgbClr val="C0C0C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Story 20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Last month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I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went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to an Italian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restaurant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The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bill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was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25 dollars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and I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paid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it</a:t>
            </a:r>
            <a:r>
              <a:rPr lang="en-US" altLang="ko-KR" sz="10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with</a:t>
            </a:r>
            <a:r>
              <a:rPr lang="en-US" altLang="ko-KR" sz="1000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my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credit card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The next day, I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checked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on the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receipt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and I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was shocked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250 dollars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was written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on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receipt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 I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went to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the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restaurant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again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and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explained the situation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to the manager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*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상황을 설명하거나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컴플레인을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하거나 조치를 취해달라는 어떤 요구사항이 나온 경우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endParaRPr lang="en-US" altLang="ko-KR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(7) The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manager apologized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Then he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refunded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my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money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(0.5)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(8) He also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gave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me a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free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dining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coupon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* meal coupon, free ticket 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 유사 이미 전달 시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dining</a:t>
            </a:r>
            <a:r>
              <a:rPr lang="ko-KR" altLang="en-US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의미가 누락되는 경우 </a:t>
            </a:r>
            <a:r>
              <a:rPr lang="en-US" altLang="ko-KR" sz="1000" dirty="0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0.5 </a:t>
            </a:r>
            <a:r>
              <a:rPr lang="ko-KR" altLang="en-US" sz="1000" dirty="0" err="1">
                <a:solidFill>
                  <a:srgbClr val="00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endParaRPr lang="ko-KR" altLang="en-US" sz="1000" dirty="0">
              <a:solidFill>
                <a:srgbClr val="0000C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3DD0B4-1666-BB79-1BFE-2DD2BE390618}"/>
              </a:ext>
            </a:extLst>
          </p:cNvPr>
          <p:cNvSpPr txBox="1"/>
          <p:nvPr/>
        </p:nvSpPr>
        <p:spPr>
          <a:xfrm>
            <a:off x="103612" y="639152"/>
            <a:ext cx="59787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(2) Part E (Story Retelling) </a:t>
            </a:r>
            <a:r>
              <a:rPr lang="ko-KR" altLang="en-US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기준</a:t>
            </a:r>
            <a:r>
              <a:rPr lang="en-US" altLang="ko-KR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스토리 핵심 요소 </a:t>
            </a:r>
            <a:r>
              <a:rPr lang="ko-KR" altLang="en-US" sz="1400" b="1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카운팅</a:t>
            </a:r>
            <a:r>
              <a:rPr lang="ko-KR" altLang="en-US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가이드라인</a:t>
            </a:r>
            <a:r>
              <a:rPr lang="en-US" altLang="ko-KR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7AC18EB-1E9F-7666-5937-CBCB8B0D4C87}"/>
              </a:ext>
            </a:extLst>
          </p:cNvPr>
          <p:cNvGrpSpPr/>
          <p:nvPr/>
        </p:nvGrpSpPr>
        <p:grpSpPr>
          <a:xfrm>
            <a:off x="-11565" y="0"/>
            <a:ext cx="7960511" cy="516048"/>
            <a:chOff x="-11565" y="0"/>
            <a:chExt cx="7960511" cy="51604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44163F9-7D1B-F770-062C-C7DF5205736C}"/>
                </a:ext>
              </a:extLst>
            </p:cNvPr>
            <p:cNvSpPr txBox="1"/>
            <p:nvPr/>
          </p:nvSpPr>
          <p:spPr>
            <a:xfrm>
              <a:off x="112665" y="67022"/>
              <a:ext cx="23857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en-US" altLang="ko-KR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2. SPAC^ </a:t>
              </a:r>
              <a:r>
                <a:rPr lang="ko-KR" altLang="en-US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평가 기준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B0FBEF2-69D0-D4CF-12E0-B665CFF31D2C}"/>
                </a:ext>
              </a:extLst>
            </p:cNvPr>
            <p:cNvSpPr/>
            <p:nvPr/>
          </p:nvSpPr>
          <p:spPr>
            <a:xfrm>
              <a:off x="0" y="0"/>
              <a:ext cx="103612" cy="5160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B3E8386-91AC-09EC-A9D0-58385C026455}"/>
                </a:ext>
              </a:extLst>
            </p:cNvPr>
            <p:cNvCxnSpPr>
              <a:cxnSpLocks/>
            </p:cNvCxnSpPr>
            <p:nvPr/>
          </p:nvCxnSpPr>
          <p:spPr>
            <a:xfrm>
              <a:off x="-11565" y="506995"/>
              <a:ext cx="79605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75757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6">
            <a:extLst>
              <a:ext uri="{FF2B5EF4-FFF2-40B4-BE49-F238E27FC236}">
                <a16:creationId xmlns:a16="http://schemas.microsoft.com/office/drawing/2014/main" id="{E49DEB96-7C56-4CF5-A4B8-16427D4DD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612" y="946929"/>
            <a:ext cx="196399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(2-1) [</a:t>
            </a:r>
            <a:r>
              <a:rPr lang="ko-KR" altLang="en-US" sz="1000" b="1" dirty="0" err="1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문장숙달성</a:t>
            </a:r>
            <a:r>
              <a:rPr lang="en-US" altLang="ko-KR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문장구조이해</a:t>
            </a:r>
            <a:endParaRPr lang="ko-KR" altLang="en-US" sz="10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3" name="object 4">
            <a:extLst>
              <a:ext uri="{FF2B5EF4-FFF2-40B4-BE49-F238E27FC236}">
                <a16:creationId xmlns:a16="http://schemas.microsoft.com/office/drawing/2014/main" id="{5AFF6692-A99B-4937-9A5D-CD3184F77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335253"/>
              </p:ext>
            </p:extLst>
          </p:nvPr>
        </p:nvGraphicFramePr>
        <p:xfrm>
          <a:off x="205107" y="1192500"/>
          <a:ext cx="8559591" cy="55267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1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7389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기준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244060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평가</a:t>
                      </a:r>
                      <a:r>
                        <a:rPr sz="1000" b="1" spc="-25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10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세부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24406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점수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244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389">
                <a:tc rowSpan="6"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ko-KR" altLang="en-US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내용</a:t>
                      </a:r>
                      <a:r>
                        <a:rPr lang="ko-KR" altLang="en-US" sz="1000" b="1" spc="-5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요소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8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 전달</a:t>
                      </a:r>
                    </a:p>
                  </a:txBody>
                  <a:tcPr marL="0" marR="0" marT="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관계대명사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(who,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which, that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등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)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및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접속사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의 사용이 활발하고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복문 구성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이 원활하며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내용에 문법적 오류가 없는 경우</a:t>
                      </a:r>
                      <a:endParaRPr 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9~10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38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관계대명사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(who, which, that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등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)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및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접속사를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활발하게 사용하여 본문을 구성하며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오류가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거의 없는 경우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8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0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and, but, so를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이용한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중문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구성이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원활하며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</a:t>
                      </a:r>
                      <a:r>
                        <a:rPr lang="en-US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의미를 해치지 않는 수준의 오류가 있는 경우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7점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0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and, but, so를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이용한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중문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구성이 가능하나, 의미를 해치지 않는 수준의 오류가 있는 경우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6점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0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간단한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단문위주의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문장구성을 보이며 의미를 해치는 수준의 오류가 있는 경우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5점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80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단어 배열에 어려움이 있어 완전한 문장구성이 힘든</a:t>
                      </a:r>
                      <a:r>
                        <a:rPr sz="900" spc="-8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389">
                <a:tc rowSpan="6"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000" b="1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</a:t>
                      </a:r>
                      <a:r>
                        <a:rPr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내용</a:t>
                      </a:r>
                      <a:r>
                        <a:rPr sz="1000" b="1" spc="-5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요소</a:t>
                      </a:r>
                      <a:endParaRPr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6</a:t>
                      </a: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~7.5</a:t>
                      </a:r>
                      <a:r>
                        <a:rPr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 전달</a:t>
                      </a:r>
                    </a:p>
                  </a:txBody>
                  <a:tcPr marL="0" marR="0" marT="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4615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관계대명사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(who,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which, that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등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)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및 접속사의 사용이 활발하고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복문 구성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이 원활하며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내용에 문법적 오류가 없는 경우</a:t>
                      </a:r>
                      <a:endParaRPr 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8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180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80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관계대명사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(who, which, that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등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)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및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접속사를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활발하게 사용하여 복문 구성 시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오류가 거의 없는 경우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7점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0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94615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and, but, so를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이용한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중문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구성이 원활하며,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의미를 해치지 않는 수준의 오류가 있는 경우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6점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80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and, but, so를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이용한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중문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구성이 가능하나, 의미를 해치지 않는 수준의 오류가 있는 경우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5점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80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간단한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단문위주의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문장구성을 보이며 의미를 해치는 수준의 오류가 있는 경우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4점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80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단어 배열에 어려움이 있어 완전한 문장구성이 힘든</a:t>
                      </a:r>
                      <a:r>
                        <a:rPr sz="900" spc="-8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3점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8062">
                <a:tc rowSpan="6"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ko-KR" altLang="en-US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내용</a:t>
                      </a:r>
                      <a:r>
                        <a:rPr lang="ko-KR" altLang="en-US" sz="1000" b="1" spc="-5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요소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4~5.5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 전달</a:t>
                      </a:r>
                    </a:p>
                  </a:txBody>
                  <a:tcPr marL="0" marR="0" marT="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관계대명사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(who,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which, that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등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)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및 접속사의 사용이 활발하고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복문 구성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이 원활하며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내용에 문법적 오류가 없는 경우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7점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80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관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관계대명사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(who, which, that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등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)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및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접속사를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활발하게 사용하여 복문 구성 시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오류가 거의 없는 경우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6점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80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and, but, so를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이용한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중문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구성이 원활하며,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의미를 해치지 않는 수준의 오류가 있는 경우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5점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80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and, but, so를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이용한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중문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구성이 가능하나, 의미를 해치지 않는 수준의 오류가 있는 경우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4점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80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간단한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단문위주의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문장구성을 보이며 의미를 해치는 수준의 오류가 있는 경우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3점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87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단어 배열에 어려움이 있어 완전한 문장구성이 힘든</a:t>
                      </a:r>
                      <a:r>
                        <a:rPr sz="900" spc="-8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445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2점</a:t>
                      </a:r>
                    </a:p>
                  </a:txBody>
                  <a:tcPr marL="0" marR="0" marT="4445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8736">
                <a:tc rowSpan="4"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내용 요소</a:t>
                      </a: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2~3.5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 전달</a:t>
                      </a:r>
                    </a:p>
                  </a:txBody>
                  <a:tcPr marL="0" marR="0" marT="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4615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and, but, so를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이용한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중문 구성이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원활하며, 의미를 해치지 않는 수준의 오류가 있는 경우</a:t>
                      </a:r>
                    </a:p>
                  </a:txBody>
                  <a:tcPr marL="0" marR="0" marT="4445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5점</a:t>
                      </a:r>
                    </a:p>
                  </a:txBody>
                  <a:tcPr marL="0" marR="0" marT="4445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87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and, but, so를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이용한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중문 구성이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가능하나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의미를 해치는 수준의 오류가 있는 경우</a:t>
                      </a:r>
                    </a:p>
                  </a:txBody>
                  <a:tcPr marL="0" marR="0" marT="4445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4점</a:t>
                      </a:r>
                    </a:p>
                  </a:txBody>
                  <a:tcPr marL="0" marR="0" marT="4445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87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94615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간단한 단문위주의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문장구성을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보이며 의미를 해치는 수준의 오류가 있는 경우</a:t>
                      </a:r>
                    </a:p>
                  </a:txBody>
                  <a:tcPr marL="0" marR="0" marT="4445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3점</a:t>
                      </a:r>
                    </a:p>
                  </a:txBody>
                  <a:tcPr marL="0" marR="0" marT="4445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087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단어 배열에 어려움이 있어 완전한 문장구성이 힘든</a:t>
                      </a:r>
                      <a:r>
                        <a:rPr sz="900" spc="-8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445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2점</a:t>
                      </a:r>
                    </a:p>
                  </a:txBody>
                  <a:tcPr marL="0" marR="0" marT="4445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내용 요소</a:t>
                      </a: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1~1.5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 전달</a:t>
                      </a:r>
                    </a:p>
                  </a:txBody>
                  <a:tcPr marL="0" marR="0" marT="4445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요소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1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개만 전달된 경우</a:t>
                      </a:r>
                      <a:endParaRPr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445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1점</a:t>
                      </a:r>
                    </a:p>
                  </a:txBody>
                  <a:tcPr marL="0" marR="0" marT="10541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내용 요소</a:t>
                      </a: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0~0.5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 전달</a:t>
                      </a:r>
                    </a:p>
                  </a:txBody>
                  <a:tcPr marL="0" marR="0" marT="4445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답변을 제공하지 않거나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I don't know.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라고만 답한 경우</a:t>
                      </a:r>
                      <a:endParaRPr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4450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  <a:endParaRPr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105410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8080501"/>
                  </a:ext>
                </a:extLst>
              </a:tr>
            </a:tbl>
          </a:graphicData>
        </a:graphic>
      </p:graphicFrame>
      <p:sp>
        <p:nvSpPr>
          <p:cNvPr id="21" name="직사각형 20">
            <a:extLst>
              <a:ext uri="{FF2B5EF4-FFF2-40B4-BE49-F238E27FC236}">
                <a16:creationId xmlns:a16="http://schemas.microsoft.com/office/drawing/2014/main" id="{DCAE067D-717C-4A45-BE2B-F8145F19B7E9}"/>
              </a:ext>
            </a:extLst>
          </p:cNvPr>
          <p:cNvSpPr/>
          <p:nvPr/>
        </p:nvSpPr>
        <p:spPr>
          <a:xfrm>
            <a:off x="8833523" y="1192500"/>
            <a:ext cx="2792057" cy="40204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3B6A92C6-475F-4E6B-A9C3-CDBCA1B34EBC}"/>
              </a:ext>
            </a:extLst>
          </p:cNvPr>
          <p:cNvSpPr txBox="1"/>
          <p:nvPr/>
        </p:nvSpPr>
        <p:spPr>
          <a:xfrm>
            <a:off x="9067040" y="1363259"/>
            <a:ext cx="2411055" cy="27466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참고</a:t>
            </a:r>
            <a:endParaRPr lang="en-US" altLang="ko-KR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endParaRPr lang="en-US" sz="1000" b="1" dirty="0"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endParaRPr lang="en-US" sz="1000" b="1" dirty="0"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한번 만으로 이루어진 문장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endParaRPr lang="en-US" sz="1000" dirty="0"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endParaRPr lang="en-US" sz="1000" dirty="0"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endParaRPr lang="en-US" sz="1000" dirty="0"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두 개 이상의 단문이 등위 접속사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(and, but, or, so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등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)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로 연결된 문장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endParaRPr lang="en-US" sz="1000" dirty="0"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endParaRPr lang="en-US" sz="1000" dirty="0"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endParaRPr lang="en-US" sz="1000" dirty="0"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주절과 종속 절로 이루어진 문장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*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종속접속사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(because, that, it, when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등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)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552AAC8-CF74-4188-9821-4B3D0D0D594A}"/>
              </a:ext>
            </a:extLst>
          </p:cNvPr>
          <p:cNvSpPr/>
          <p:nvPr/>
        </p:nvSpPr>
        <p:spPr>
          <a:xfrm>
            <a:off x="9067041" y="1610909"/>
            <a:ext cx="1600199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▷ 단문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: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S + V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 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6EE7EFE-A7FC-493D-AF29-3A1FD3CABFE8}"/>
              </a:ext>
            </a:extLst>
          </p:cNvPr>
          <p:cNvSpPr/>
          <p:nvPr/>
        </p:nvSpPr>
        <p:spPr>
          <a:xfrm>
            <a:off x="9067040" y="2220509"/>
            <a:ext cx="1600199" cy="4381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▷ 중문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: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S + V </a:t>
            </a: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    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대등접속사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S + V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 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253A138-194D-4C51-A514-B2EC1F7625A2}"/>
              </a:ext>
            </a:extLst>
          </p:cNvPr>
          <p:cNvSpPr/>
          <p:nvPr/>
        </p:nvSpPr>
        <p:spPr>
          <a:xfrm>
            <a:off x="9067040" y="3195751"/>
            <a:ext cx="1600199" cy="4381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▷ 복문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: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S + V </a:t>
            </a: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    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종속접속사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S + V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 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C100189-8E94-4E55-AEC5-51A919ACEB46}"/>
              </a:ext>
            </a:extLst>
          </p:cNvPr>
          <p:cNvSpPr/>
          <p:nvPr/>
        </p:nvSpPr>
        <p:spPr>
          <a:xfrm>
            <a:off x="9067040" y="4200790"/>
            <a:ext cx="1600199" cy="8096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▷ 관계대명사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 / 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접속사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:</a:t>
            </a: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Even though, even if, </a:t>
            </a: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Not ~ but also, which,</a:t>
            </a: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Whatever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등 표현의미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</p:txBody>
      </p:sp>
      <p:sp>
        <p:nvSpPr>
          <p:cNvPr id="28" name="직사각형 13">
            <a:extLst>
              <a:ext uri="{FF2B5EF4-FFF2-40B4-BE49-F238E27FC236}">
                <a16:creationId xmlns:a16="http://schemas.microsoft.com/office/drawing/2014/main" id="{5C92B75F-F5C7-4CB8-9D63-22F1D00F8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4699" y="5303782"/>
            <a:ext cx="331245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 시 점수는 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기준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항목을 대상으로 한 다음</a:t>
            </a:r>
            <a:endParaRPr kumimoji="0"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 세부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통해 최종 점수를 부여</a:t>
            </a: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한다</a:t>
            </a:r>
            <a:r>
              <a:rPr kumimoji="0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endParaRPr kumimoji="0"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원어민 기준으로 오류 없이 다양한 형태의 문장유형을</a:t>
            </a:r>
            <a:endParaRPr lang="en-US" altLang="ko-KR" sz="9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활용하여 논리적으로 내용을 구성한 경우</a:t>
            </a:r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점 만점을</a:t>
            </a:r>
            <a:endParaRPr lang="en-US" altLang="ko-KR" sz="9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부여할 수 있다</a:t>
            </a:r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177415-E743-9FBC-5101-1AB5EDBA9EF5}"/>
              </a:ext>
            </a:extLst>
          </p:cNvPr>
          <p:cNvSpPr txBox="1"/>
          <p:nvPr/>
        </p:nvSpPr>
        <p:spPr>
          <a:xfrm>
            <a:off x="103612" y="639152"/>
            <a:ext cx="38243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(2) Part E (Story Retelling) </a:t>
            </a:r>
            <a:r>
              <a:rPr lang="ko-KR" altLang="en-US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영역별 평가 가이드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F625636-B6BD-66F0-B616-27A756D5B920}"/>
              </a:ext>
            </a:extLst>
          </p:cNvPr>
          <p:cNvGrpSpPr/>
          <p:nvPr/>
        </p:nvGrpSpPr>
        <p:grpSpPr>
          <a:xfrm>
            <a:off x="-11565" y="0"/>
            <a:ext cx="7960511" cy="516048"/>
            <a:chOff x="-11565" y="0"/>
            <a:chExt cx="7960511" cy="51604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18EAB6A-ACB8-B641-93AD-951AA880CE1F}"/>
                </a:ext>
              </a:extLst>
            </p:cNvPr>
            <p:cNvSpPr txBox="1"/>
            <p:nvPr/>
          </p:nvSpPr>
          <p:spPr>
            <a:xfrm>
              <a:off x="112665" y="67022"/>
              <a:ext cx="23857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en-US" altLang="ko-KR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2. SPAC^ </a:t>
              </a:r>
              <a:r>
                <a:rPr lang="ko-KR" altLang="en-US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평가 기준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DB4FBBA-D305-87AC-0AC6-B4D02B70F322}"/>
                </a:ext>
              </a:extLst>
            </p:cNvPr>
            <p:cNvSpPr/>
            <p:nvPr/>
          </p:nvSpPr>
          <p:spPr>
            <a:xfrm>
              <a:off x="0" y="0"/>
              <a:ext cx="103612" cy="5160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18C9A6B-339F-F654-6FCB-A92C2D27A361}"/>
                </a:ext>
              </a:extLst>
            </p:cNvPr>
            <p:cNvCxnSpPr>
              <a:cxnSpLocks/>
            </p:cNvCxnSpPr>
            <p:nvPr/>
          </p:nvCxnSpPr>
          <p:spPr>
            <a:xfrm>
              <a:off x="-11565" y="506995"/>
              <a:ext cx="79605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49943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6">
            <a:extLst>
              <a:ext uri="{FF2B5EF4-FFF2-40B4-BE49-F238E27FC236}">
                <a16:creationId xmlns:a16="http://schemas.microsoft.com/office/drawing/2014/main" id="{E49DEB96-7C56-4CF5-A4B8-16427D4DD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246" y="1039662"/>
            <a:ext cx="1721946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(2-2) [</a:t>
            </a:r>
            <a:r>
              <a:rPr lang="ko-KR" altLang="en-US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어휘</a:t>
            </a:r>
            <a:r>
              <a:rPr lang="en-US" altLang="ko-KR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다양성 </a:t>
            </a:r>
            <a:r>
              <a:rPr lang="en-US" altLang="ko-KR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적합성</a:t>
            </a:r>
            <a:endParaRPr lang="ko-KR" altLang="en-US" sz="10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4" name="object 5">
            <a:extLst>
              <a:ext uri="{FF2B5EF4-FFF2-40B4-BE49-F238E27FC236}">
                <a16:creationId xmlns:a16="http://schemas.microsoft.com/office/drawing/2014/main" id="{4DB90EEA-0094-4DFE-9DF6-91D21CDBA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571183"/>
              </p:ext>
            </p:extLst>
          </p:nvPr>
        </p:nvGraphicFramePr>
        <p:xfrm>
          <a:off x="238065" y="1336987"/>
          <a:ext cx="8595905" cy="47058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6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36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3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18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기준</a:t>
                      </a:r>
                      <a:endParaRPr sz="10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평가</a:t>
                      </a:r>
                      <a:r>
                        <a:rPr sz="1000" b="1" spc="-25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10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세부</a:t>
                      </a:r>
                      <a:endParaRPr sz="10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244060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점수</a:t>
                      </a:r>
                      <a:endParaRPr sz="10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244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579">
                <a:tc rowSpan="3"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ko-KR" altLang="en-US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내용</a:t>
                      </a:r>
                      <a:r>
                        <a:rPr lang="ko-KR" altLang="en-US" sz="1000" b="1" spc="-5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요소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lang="en-US" altLang="ko-KR" sz="1000" b="1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8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 전달</a:t>
                      </a:r>
                    </a:p>
                  </a:txBody>
                  <a:tcPr marL="0" marR="0" marT="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속 어휘를 대신 할 새로운 어휘를 다양하고 적합하게 </a:t>
                      </a:r>
                      <a:r>
                        <a:rPr sz="9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사용한</a:t>
                      </a:r>
                      <a:r>
                        <a:rPr sz="900" spc="-75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  <a:endParaRPr 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9~10</a:t>
                      </a:r>
                      <a:r>
                        <a:rPr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57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</a:t>
                      </a:r>
                      <a:r>
                        <a:rPr sz="900" spc="5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속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어휘만을 사용하였으나 오류가 거의 없는</a:t>
                      </a:r>
                      <a:r>
                        <a:rPr sz="900" spc="-95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8점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57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속 제한된 어휘만을 반복적으로 </a:t>
                      </a:r>
                      <a:r>
                        <a:rPr sz="9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사용하고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적합성이 다소 떨어지는</a:t>
                      </a:r>
                      <a:r>
                        <a:rPr sz="900" spc="-9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7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579">
                <a:tc rowSpan="3"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내용 요소</a:t>
                      </a: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6~7.5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 전달</a:t>
                      </a:r>
                    </a:p>
                  </a:txBody>
                  <a:tcPr marL="0" marR="0" marT="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속 어휘를 대신 할 새로운 어휘를 다양하고 적합하게 </a:t>
                      </a:r>
                      <a:r>
                        <a:rPr sz="9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사용한</a:t>
                      </a:r>
                      <a:r>
                        <a:rPr sz="900" spc="-75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  <a:endParaRPr 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8점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57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속 어휘만을 사용하였으나 오류가 거의 없는</a:t>
                      </a:r>
                      <a:r>
                        <a:rPr sz="900" spc="-75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7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57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속 제한된 어휘만을 반복적으로 </a:t>
                      </a:r>
                      <a:r>
                        <a:rPr sz="9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사용하고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적합성이 다소 떨어지는</a:t>
                      </a:r>
                      <a:r>
                        <a:rPr sz="900" spc="-9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6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579">
                <a:tc rowSpan="3"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000" b="1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</a:t>
                      </a:r>
                      <a:r>
                        <a:rPr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내용</a:t>
                      </a:r>
                      <a:r>
                        <a:rPr sz="1000" b="1" spc="-5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요소</a:t>
                      </a:r>
                      <a:endParaRPr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4~5.5</a:t>
                      </a:r>
                      <a:r>
                        <a:rPr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 </a:t>
                      </a:r>
                      <a:r>
                        <a:rPr sz="1000" b="1" dirty="0" err="1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전달</a:t>
                      </a:r>
                      <a:endParaRPr sz="10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속 어휘만을 사용하였으나 오류가 거의 없는</a:t>
                      </a:r>
                      <a:r>
                        <a:rPr sz="900" spc="-75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5-</a:t>
                      </a:r>
                      <a:r>
                        <a:rPr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6점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57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속 제한된 어휘만을 반복적으로 </a:t>
                      </a:r>
                      <a:r>
                        <a:rPr sz="9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사용하고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적합성이 다소 떨어지는</a:t>
                      </a:r>
                      <a:r>
                        <a:rPr sz="900" spc="-9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</a:t>
                      </a:r>
                      <a:r>
                        <a:rPr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57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적합하지 않은 어휘들로 구성하여 내용 파악이 어려운</a:t>
                      </a:r>
                      <a:r>
                        <a:rPr sz="900" spc="-9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3점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579">
                <a:tc rowSpan="3"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내용 요소</a:t>
                      </a: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2~3.5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 전달</a:t>
                      </a:r>
                    </a:p>
                  </a:txBody>
                  <a:tcPr marL="0" marR="0" marT="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속 어휘만을 사용하였으나 오류가 거의 없는</a:t>
                      </a:r>
                      <a:r>
                        <a:rPr sz="900" spc="-75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5점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457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속 제한된 어휘만을 </a:t>
                      </a:r>
                      <a:r>
                        <a:rPr sz="9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반복적으로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사용하고 적합성이 다소 떨어지는</a:t>
                      </a:r>
                      <a:r>
                        <a:rPr sz="900" spc="-9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457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적합하지 않은 어휘들로 구성하여 내용 파악이 어려운</a:t>
                      </a:r>
                      <a:r>
                        <a:rPr sz="900" spc="-9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3점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57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ko-KR" altLang="en-US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내용</a:t>
                      </a:r>
                      <a:r>
                        <a:rPr lang="ko-KR" altLang="en-US" sz="1000" b="1" spc="-5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요소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1~1.5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 전달</a:t>
                      </a:r>
                    </a:p>
                  </a:txBody>
                  <a:tcPr marL="0" marR="0" marT="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속 어휘의 활용조차 어려운</a:t>
                      </a:r>
                      <a:r>
                        <a:rPr sz="900" spc="-6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104775" marB="0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2점</a:t>
                      </a:r>
                      <a:endParaRPr sz="100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10477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457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내용 요소</a:t>
                      </a: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0~0.5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 전달</a:t>
                      </a:r>
                    </a:p>
                  </a:txBody>
                  <a:tcPr marL="0" marR="0" marT="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답변을 제공하지 않거나 I </a:t>
                      </a:r>
                      <a:r>
                        <a:rPr sz="900" spc="-5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don’t know. 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라고만 답한</a:t>
                      </a:r>
                      <a:r>
                        <a:rPr sz="900" spc="-55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104775" marB="0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1점</a:t>
                      </a:r>
                    </a:p>
                  </a:txBody>
                  <a:tcPr marL="0" marR="0" marT="10477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DB5EB432-3174-4305-B2AC-1C332AB675DD}"/>
              </a:ext>
            </a:extLst>
          </p:cNvPr>
          <p:cNvSpPr/>
          <p:nvPr/>
        </p:nvSpPr>
        <p:spPr>
          <a:xfrm>
            <a:off x="9114122" y="3403911"/>
            <a:ext cx="1374839" cy="5506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10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맞았을 경우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0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점 </a:t>
            </a:r>
            <a:endParaRPr lang="en-US" altLang="ko-KR" sz="1000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0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맞았을 경우 </a:t>
            </a:r>
            <a:r>
              <a:rPr lang="en-US" altLang="ko-KR" sz="10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1000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점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F1F7815-1F68-423A-A114-491BAB958817}"/>
              </a:ext>
            </a:extLst>
          </p:cNvPr>
          <p:cNvCxnSpPr/>
          <p:nvPr/>
        </p:nvCxnSpPr>
        <p:spPr>
          <a:xfrm>
            <a:off x="8874521" y="3651562"/>
            <a:ext cx="18000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3">
            <a:extLst>
              <a:ext uri="{FF2B5EF4-FFF2-40B4-BE49-F238E27FC236}">
                <a16:creationId xmlns:a16="http://schemas.microsoft.com/office/drawing/2014/main" id="{F42CC608-B758-4E6E-8853-2520E5A6F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065" y="6189031"/>
            <a:ext cx="716279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 시 점수는 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기준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항목을 대상으로 한 다음 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 세부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통해 최종 점수를 부여</a:t>
            </a: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한다</a:t>
            </a:r>
            <a:r>
              <a:rPr kumimoji="0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900" b="1" dirty="0" err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원어민</a:t>
            </a: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기준으로 오류 없이 다양하고 전문적인 수준의 어휘를 활용하여 논리적으로 내용을 구성한 경우</a:t>
            </a:r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점 만점을 부여할 수 있다</a:t>
            </a:r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DAED43-16F0-1E82-DAFB-80603D8014C2}"/>
              </a:ext>
            </a:extLst>
          </p:cNvPr>
          <p:cNvSpPr txBox="1"/>
          <p:nvPr/>
        </p:nvSpPr>
        <p:spPr>
          <a:xfrm>
            <a:off x="103612" y="639152"/>
            <a:ext cx="38243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(2) Part E (Story Retelling) </a:t>
            </a:r>
            <a:r>
              <a:rPr lang="ko-KR" altLang="en-US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영역별 평가 가이드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7A3CE53-8346-CB56-5E81-AF55C3A6636D}"/>
              </a:ext>
            </a:extLst>
          </p:cNvPr>
          <p:cNvGrpSpPr/>
          <p:nvPr/>
        </p:nvGrpSpPr>
        <p:grpSpPr>
          <a:xfrm>
            <a:off x="-11565" y="0"/>
            <a:ext cx="7960511" cy="516048"/>
            <a:chOff x="-11565" y="0"/>
            <a:chExt cx="7960511" cy="51604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85F380B-311E-A477-82D5-707B2EDDE341}"/>
                </a:ext>
              </a:extLst>
            </p:cNvPr>
            <p:cNvSpPr txBox="1"/>
            <p:nvPr/>
          </p:nvSpPr>
          <p:spPr>
            <a:xfrm>
              <a:off x="112665" y="67022"/>
              <a:ext cx="23857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en-US" altLang="ko-KR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2. SPAC^ </a:t>
              </a:r>
              <a:r>
                <a:rPr lang="ko-KR" altLang="en-US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평가 기준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D6D48EB-F9CE-78AC-6DA5-3CFA6923649E}"/>
                </a:ext>
              </a:extLst>
            </p:cNvPr>
            <p:cNvSpPr/>
            <p:nvPr/>
          </p:nvSpPr>
          <p:spPr>
            <a:xfrm>
              <a:off x="0" y="0"/>
              <a:ext cx="103612" cy="5160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D9DE6BEF-A43C-A04D-E232-E02B3EB003AE}"/>
                </a:ext>
              </a:extLst>
            </p:cNvPr>
            <p:cNvCxnSpPr>
              <a:cxnSpLocks/>
            </p:cNvCxnSpPr>
            <p:nvPr/>
          </p:nvCxnSpPr>
          <p:spPr>
            <a:xfrm>
              <a:off x="-11565" y="506995"/>
              <a:ext cx="79605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07578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6">
            <a:extLst>
              <a:ext uri="{FF2B5EF4-FFF2-40B4-BE49-F238E27FC236}">
                <a16:creationId xmlns:a16="http://schemas.microsoft.com/office/drawing/2014/main" id="{E49DEB96-7C56-4CF5-A4B8-16427D4DD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604" y="997592"/>
            <a:ext cx="234551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(2-3) [</a:t>
            </a:r>
            <a:r>
              <a:rPr lang="ko-KR" altLang="en-US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유창성</a:t>
            </a:r>
            <a:r>
              <a:rPr lang="en-US" altLang="ko-KR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논리력 </a:t>
            </a:r>
            <a:r>
              <a:rPr lang="en-US" altLang="ko-KR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구성력 </a:t>
            </a:r>
            <a:r>
              <a:rPr lang="en-US" altLang="ko-KR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유창성</a:t>
            </a:r>
            <a:endParaRPr lang="ko-KR" altLang="en-US" sz="10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489035DF-BA30-4DF5-8BC1-B4F37C5961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347380"/>
              </p:ext>
            </p:extLst>
          </p:nvPr>
        </p:nvGraphicFramePr>
        <p:xfrm>
          <a:off x="212694" y="1243813"/>
          <a:ext cx="10418486" cy="490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4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4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40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기준</a:t>
                      </a:r>
                      <a:endParaRPr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0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평가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세부</a:t>
                      </a:r>
                      <a:endParaRPr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244060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점수</a:t>
                      </a:r>
                      <a:endParaRPr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244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 rowSpan="4"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ko-KR" altLang="en-US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내용</a:t>
                      </a:r>
                      <a:r>
                        <a:rPr lang="ko-KR" altLang="en-US" sz="1000" b="1" spc="-5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요소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8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 전달</a:t>
                      </a:r>
                    </a:p>
                  </a:txBody>
                  <a:tcPr marL="0" marR="0" marT="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스토리의 흐름에 맞게 논리 정연하게 내용을 구성하여 내용을 유창하게 말한 경우</a:t>
                      </a:r>
                      <a:endParaRPr 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9~10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스토리의 흐름과 논리 정연하게 내용을 구성하여 말했지만 머뭇거림의 현상으로 유창하지 못하게 말한 경우</a:t>
                      </a:r>
                      <a:endParaRPr 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8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스토리의 논리는 타당하나 흐름이 뒤죽박죽하며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약간의 머뭇거림과 오류가 있을 경우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7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흐름이 뒤죽박죽으로 중간 중간 내용 파악이 어려우며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um,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er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well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등의 사용이 많은 경우</a:t>
                      </a:r>
                    </a:p>
                  </a:txBody>
                  <a:tcPr marL="0" marR="0" marT="43180" marB="0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6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 rowSpan="4"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내용 요소</a:t>
                      </a: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6~7.5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 전달</a:t>
                      </a:r>
                    </a:p>
                  </a:txBody>
                  <a:tcPr marL="0" marR="0" marT="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스토리의 흐름에 맞게 논리 정연하게 내용을 구성하여 내용을 유창하게 말한 경우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8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  <a:endParaRPr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스토리의 흐름과 논리 정연하게 내용을 구성하여 말했지만 머뭇거림의 현상으로 유창하지 못하게 말한 경우</a:t>
                      </a:r>
                      <a:endParaRPr 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7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  <a:endParaRPr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스토리의 논리는 타당하나 흐름이 뒤죽박죽하며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약간의 머뭇거림과 오류가 있을 경우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6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  <a:endParaRPr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흐름이 뒤죽박죽으로 중간 중간 내용 파악이 어려우며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um,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er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well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등의 사용이 많은 경우</a:t>
                      </a:r>
                    </a:p>
                  </a:txBody>
                  <a:tcPr marL="0" marR="0" marT="43180" marB="0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5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000">
                <a:tc rowSpan="4"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ko-KR" altLang="en-US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내용</a:t>
                      </a:r>
                      <a:r>
                        <a:rPr lang="ko-KR" altLang="en-US" sz="1000" b="1" spc="-5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요소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4~5.5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 전달</a:t>
                      </a:r>
                    </a:p>
                  </a:txBody>
                  <a:tcPr marL="0" marR="0" marT="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4615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스토리의 흐름에 맞게 논리 정연하게 내용을 구성하여 내용을 유창하게 말한 경우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6점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스토리의 흐름과 논리 정연하게 내용을 구성하여 말했지만 머뭇거림의 현상으로 유창하지 못하게 말한 경우</a:t>
                      </a:r>
                      <a:endParaRPr 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5점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스토리의 논리는 타당하나 흐름이 뒤죽박죽하며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약간의 머뭇거림과 오류가 있을 경우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4점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흐름이 뒤죽박죽으로 중간 중간 내용 파악이 어려우며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um,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er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well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등의 사용이 많은 경우</a:t>
                      </a:r>
                    </a:p>
                  </a:txBody>
                  <a:tcPr marL="0" marR="0" marT="43180" marB="0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3점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000">
                <a:tc rowSpan="4"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내용 요소</a:t>
                      </a: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2~3.5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 전달</a:t>
                      </a:r>
                    </a:p>
                  </a:txBody>
                  <a:tcPr marL="0" marR="0" marT="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스토리의 흐름에 맞게 논리 정연하게 내용을 구성하여 내용을 유창하게 말한 경우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5점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스토리의 논리는 타당하나 흐름이 뒤죽박죽하며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약간의 머뭇거림과 오류가 있을 경우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4점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흐름이 뒤죽박죽으로 내용 파악이 어려우며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um,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er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well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등의 사용이 많은 경우</a:t>
                      </a:r>
                    </a:p>
                  </a:txBody>
                  <a:tcPr marL="0" marR="0" marT="43180" marB="0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3점</a:t>
                      </a:r>
                    </a:p>
                  </a:txBody>
                  <a:tcPr marL="0" marR="0" marT="44450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20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4615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4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전혀 다른 내용을 전달하고 머뭇거림이 많아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유창성이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떨어지는</a:t>
                      </a:r>
                      <a:r>
                        <a:rPr lang="ko-KR" altLang="en-US" sz="900" spc="-9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  <a:endParaRPr 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2점</a:t>
                      </a:r>
                    </a:p>
                  </a:txBody>
                  <a:tcPr marL="0" marR="0" marT="44450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ko-KR" altLang="en-US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내용</a:t>
                      </a:r>
                      <a:r>
                        <a:rPr lang="ko-KR" altLang="en-US" sz="1000" b="1" spc="-5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요소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1~1.5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 전달</a:t>
                      </a:r>
                    </a:p>
                  </a:txBody>
                  <a:tcPr marL="0" marR="0" marT="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내용을 파악하기 어려운 구성과 말하기를 보인</a:t>
                      </a:r>
                      <a:r>
                        <a:rPr sz="900" spc="-85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105410" marB="0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2점</a:t>
                      </a:r>
                    </a:p>
                  </a:txBody>
                  <a:tcPr marL="0" marR="0" marT="10541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내용 요소</a:t>
                      </a: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0~0.5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 전달</a:t>
                      </a:r>
                    </a:p>
                  </a:txBody>
                  <a:tcPr marL="0" marR="0" marT="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답변을 제공하지 않거나 I </a:t>
                      </a:r>
                      <a:r>
                        <a:rPr sz="900" spc="-5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don’t know. 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라고만 답한</a:t>
                      </a:r>
                      <a:r>
                        <a:rPr sz="900" spc="-55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105410" marB="0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1점</a:t>
                      </a:r>
                    </a:p>
                  </a:txBody>
                  <a:tcPr marL="0" marR="0" marT="10541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11" name="직사각형 13">
            <a:extLst>
              <a:ext uri="{FF2B5EF4-FFF2-40B4-BE49-F238E27FC236}">
                <a16:creationId xmlns:a16="http://schemas.microsoft.com/office/drawing/2014/main" id="{887FD37A-53E3-4181-8402-A7454DD27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604" y="6337074"/>
            <a:ext cx="716279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 시 점수는 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기준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항목을 대상으로 한 다음 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 세부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통해 최종 점수를 부여</a:t>
            </a: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한다</a:t>
            </a:r>
            <a:r>
              <a:rPr kumimoji="0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900" b="1" dirty="0" err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원어민</a:t>
            </a: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기준으로 오류 없이 막힘 없는 </a:t>
            </a:r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speaking</a:t>
            </a: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으로 논리적이며 구성력이 뛰어난 내용을 구성한 경우</a:t>
            </a:r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점 만점을 부여할 수 있다</a:t>
            </a:r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FB6B46-DD9E-B462-709D-5CC0EBE2F8AC}"/>
              </a:ext>
            </a:extLst>
          </p:cNvPr>
          <p:cNvSpPr txBox="1"/>
          <p:nvPr/>
        </p:nvSpPr>
        <p:spPr>
          <a:xfrm>
            <a:off x="103612" y="639152"/>
            <a:ext cx="38243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(2) Part E (Story Retelling) </a:t>
            </a:r>
            <a:r>
              <a:rPr lang="ko-KR" altLang="en-US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영역별 평가 가이드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46B777C-9165-9624-1FE2-EBC9C91C0C26}"/>
              </a:ext>
            </a:extLst>
          </p:cNvPr>
          <p:cNvGrpSpPr/>
          <p:nvPr/>
        </p:nvGrpSpPr>
        <p:grpSpPr>
          <a:xfrm>
            <a:off x="-11565" y="0"/>
            <a:ext cx="7960511" cy="516048"/>
            <a:chOff x="-11565" y="0"/>
            <a:chExt cx="7960511" cy="51604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4449512-959A-6169-C8FE-3CE783E360E1}"/>
                </a:ext>
              </a:extLst>
            </p:cNvPr>
            <p:cNvSpPr txBox="1"/>
            <p:nvPr/>
          </p:nvSpPr>
          <p:spPr>
            <a:xfrm>
              <a:off x="112665" y="67022"/>
              <a:ext cx="23857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en-US" altLang="ko-KR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2. SPAC^ </a:t>
              </a:r>
              <a:r>
                <a:rPr lang="ko-KR" altLang="en-US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평가 기준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F314045-6892-C0FB-4886-1ABE1757C096}"/>
                </a:ext>
              </a:extLst>
            </p:cNvPr>
            <p:cNvSpPr/>
            <p:nvPr/>
          </p:nvSpPr>
          <p:spPr>
            <a:xfrm>
              <a:off x="0" y="0"/>
              <a:ext cx="103612" cy="5160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04D3EC3C-BF20-DB90-2492-B4141C8133D0}"/>
                </a:ext>
              </a:extLst>
            </p:cNvPr>
            <p:cNvCxnSpPr>
              <a:cxnSpLocks/>
            </p:cNvCxnSpPr>
            <p:nvPr/>
          </p:nvCxnSpPr>
          <p:spPr>
            <a:xfrm>
              <a:off x="-11565" y="506995"/>
              <a:ext cx="79605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385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6">
            <a:extLst>
              <a:ext uri="{FF2B5EF4-FFF2-40B4-BE49-F238E27FC236}">
                <a16:creationId xmlns:a16="http://schemas.microsoft.com/office/drawing/2014/main" id="{E49DEB96-7C56-4CF5-A4B8-16427D4DD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665" y="997592"/>
            <a:ext cx="100219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(2-4) [</a:t>
            </a:r>
            <a:r>
              <a:rPr lang="ko-KR" altLang="en-US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이해력</a:t>
            </a:r>
            <a:r>
              <a:rPr lang="en-US" altLang="ko-KR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endParaRPr lang="ko-KR" altLang="en-US" sz="10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512B429D-6C57-46B6-AE5A-A8E4789C7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928758"/>
              </p:ext>
            </p:extLst>
          </p:nvPr>
        </p:nvGraphicFramePr>
        <p:xfrm>
          <a:off x="199664" y="1313023"/>
          <a:ext cx="7772400" cy="4903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0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338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기준</a:t>
                      </a:r>
                      <a:endParaRPr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44060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평가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세부</a:t>
                      </a:r>
                      <a:endParaRPr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44060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점수</a:t>
                      </a:r>
                      <a:endParaRPr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44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105">
                <a:tc rowSpan="2">
                  <a:txBody>
                    <a:bodyPr/>
                    <a:lstStyle/>
                    <a:p>
                      <a:pPr marL="9271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구성 요소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9271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8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 전달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스토리의 모든 내용에 누락 및 오류 없이 완전하게 전달된 경우</a:t>
                      </a:r>
                      <a:endParaRPr 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461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10</a:t>
                      </a:r>
                    </a:p>
                  </a:txBody>
                  <a:tcPr marL="0" marR="0" marT="431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105">
                <a:tc vMerge="1">
                  <a:txBody>
                    <a:bodyPr/>
                    <a:lstStyle/>
                    <a:p>
                      <a:pPr marL="9271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전달된 요소가 있는 문장의 일부 내용에 누락이나 다른 해석이 있는 경우</a:t>
                      </a:r>
                      <a:endParaRPr 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461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9</a:t>
                      </a:r>
                    </a:p>
                  </a:txBody>
                  <a:tcPr marL="0" marR="0" marT="431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335484"/>
                  </a:ext>
                </a:extLst>
              </a:tr>
              <a:tr h="263105">
                <a:tc rowSpan="2">
                  <a:txBody>
                    <a:bodyPr/>
                    <a:lstStyle/>
                    <a:p>
                      <a:pPr marL="9271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1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구성 요소</a:t>
                      </a:r>
                      <a:endParaRPr lang="en-US" altLang="ko-KR" sz="10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9271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7 ~ 7.5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 전달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전달된 요소가 있는 문장의 일부 </a:t>
                      </a:r>
                      <a:r>
                        <a:rPr lang="ko-KR" altLang="en-US" sz="900" b="1" dirty="0">
                          <a:solidFill>
                            <a:srgbClr val="0000CC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내용에 누락이나 다른 해석이 없는 경우</a:t>
                      </a:r>
                      <a:endParaRPr lang="en-US" altLang="ko-KR" sz="900" b="1" dirty="0">
                        <a:solidFill>
                          <a:srgbClr val="0000CC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4615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105">
                <a:tc vMerge="1">
                  <a:txBody>
                    <a:bodyPr/>
                    <a:lstStyle/>
                    <a:p>
                      <a:pPr marL="9271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전달된 요소가 있는 문장의 일부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내용에 누락이나 다른 해석이 있는 경우</a:t>
                      </a:r>
                      <a:endParaRPr lang="en-US" altLang="ko-KR" sz="9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4615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105">
                <a:tc rowSpan="2">
                  <a:txBody>
                    <a:bodyPr/>
                    <a:lstStyle/>
                    <a:p>
                      <a:pPr marL="9271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1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구성 요소</a:t>
                      </a:r>
                      <a:endParaRPr lang="en-US" altLang="ko-KR" sz="10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9271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6 ~ 6.5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전달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전달된 요소가 있는 문장의 일부 </a:t>
                      </a:r>
                      <a:r>
                        <a:rPr lang="ko-KR" altLang="en-US" sz="900" b="1" dirty="0">
                          <a:solidFill>
                            <a:srgbClr val="0000CC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내용에 누락이나 다른 해석이 없는 경우</a:t>
                      </a:r>
                      <a:endParaRPr lang="en-US" altLang="ko-KR" sz="900" b="1" dirty="0">
                        <a:solidFill>
                          <a:srgbClr val="0000CC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4615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031">
                <a:tc vMerge="1">
                  <a:txBody>
                    <a:bodyPr/>
                    <a:lstStyle/>
                    <a:p>
                      <a:pPr marL="9271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전달된 요소가 있는 문장의 일부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내용에 누락이나 다른 해석이 있는 경우</a:t>
                      </a:r>
                      <a:endParaRPr lang="en-US" altLang="ko-KR" sz="9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4615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34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6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031">
                <a:tc rowSpan="2">
                  <a:txBody>
                    <a:bodyPr/>
                    <a:lstStyle/>
                    <a:p>
                      <a:pPr marL="9271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1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구성 요소</a:t>
                      </a:r>
                      <a:endParaRPr lang="en-US" altLang="ko-KR" sz="10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9271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5 ~ 5.5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전달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전달된 요소가 있는 문장의 일부 </a:t>
                      </a:r>
                      <a:r>
                        <a:rPr lang="ko-KR" altLang="en-US" sz="900" b="1" dirty="0">
                          <a:solidFill>
                            <a:srgbClr val="0000CC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내용에 누락이나 다른 해석이 없는 경우</a:t>
                      </a:r>
                      <a:endParaRPr lang="en-US" altLang="ko-KR" sz="900" b="1" dirty="0">
                        <a:solidFill>
                          <a:srgbClr val="0000CC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461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6</a:t>
                      </a:r>
                      <a:endParaRPr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031">
                <a:tc vMerge="1">
                  <a:txBody>
                    <a:bodyPr/>
                    <a:lstStyle/>
                    <a:p>
                      <a:pPr marL="9271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전달된 요소가 있는 문장의 일부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내용에 누락이나 다른 해석이 있는 경우</a:t>
                      </a:r>
                      <a:endParaRPr lang="en-US" altLang="ko-KR" sz="9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4615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34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5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031">
                <a:tc rowSpan="2">
                  <a:txBody>
                    <a:bodyPr/>
                    <a:lstStyle/>
                    <a:p>
                      <a:pPr marL="9271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1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구성 요소</a:t>
                      </a:r>
                      <a:endParaRPr lang="en-US" altLang="ko-KR" sz="10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9271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 ~ 4.5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전달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전달된 요소가 있는 문장의 일부 </a:t>
                      </a:r>
                      <a:r>
                        <a:rPr lang="ko-KR" altLang="en-US" sz="900" b="1" dirty="0">
                          <a:solidFill>
                            <a:srgbClr val="0000CC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내용에 누락이나 다른 해석이 없는 경우</a:t>
                      </a:r>
                      <a:endParaRPr lang="en-US" altLang="ko-KR" sz="900" b="1" dirty="0">
                        <a:solidFill>
                          <a:srgbClr val="0000CC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461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5</a:t>
                      </a:r>
                      <a:endParaRPr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031">
                <a:tc vMerge="1">
                  <a:txBody>
                    <a:bodyPr/>
                    <a:lstStyle/>
                    <a:p>
                      <a:pPr marL="9271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전달된 요소가 있는 문장의 일부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내용에 누락이나 다른 해석이 있는 경우</a:t>
                      </a:r>
                      <a:endParaRPr lang="en-US" altLang="ko-KR" sz="9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461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</a:t>
                      </a:r>
                      <a:endParaRPr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4031">
                <a:tc rowSpan="2">
                  <a:txBody>
                    <a:bodyPr/>
                    <a:lstStyle/>
                    <a:p>
                      <a:pPr marL="9271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1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구성 요소</a:t>
                      </a:r>
                      <a:endParaRPr lang="en-US" altLang="ko-KR" sz="10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9271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3 ~ 3.5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 전달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전달된 요소가 있는 문장의 일부 </a:t>
                      </a:r>
                      <a:r>
                        <a:rPr lang="ko-KR" altLang="en-US" sz="900" b="1" dirty="0">
                          <a:solidFill>
                            <a:srgbClr val="0000CC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내용에 누락이나 다른 해석이 없는 경우</a:t>
                      </a:r>
                      <a:endParaRPr lang="en-US" altLang="ko-KR" sz="900" b="1" dirty="0">
                        <a:solidFill>
                          <a:srgbClr val="0000CC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461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</a:t>
                      </a:r>
                      <a:endParaRPr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4031">
                <a:tc vMerge="1">
                  <a:txBody>
                    <a:bodyPr/>
                    <a:lstStyle/>
                    <a:p>
                      <a:pPr marL="9271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전달된 요소가 있는 문장의 일부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내용에 누락이나 다른 해석이 있는 경우</a:t>
                      </a:r>
                      <a:endParaRPr lang="en-US" altLang="ko-KR" sz="9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461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3</a:t>
                      </a:r>
                      <a:endParaRPr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4031">
                <a:tc rowSpan="2">
                  <a:txBody>
                    <a:bodyPr/>
                    <a:lstStyle/>
                    <a:p>
                      <a:pPr marL="9271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1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구성 요소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9271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2 ~ 2.5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 전달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전달된 요소가 있는 문장의 일부 </a:t>
                      </a:r>
                      <a:r>
                        <a:rPr lang="ko-KR" altLang="en-US" sz="900" b="1" dirty="0">
                          <a:solidFill>
                            <a:srgbClr val="0000CC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내용에 누락이나 다른 해석이 없는 경우</a:t>
                      </a:r>
                      <a:endParaRPr lang="en-US" altLang="ko-KR" sz="900" b="1" dirty="0">
                        <a:solidFill>
                          <a:srgbClr val="0000CC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461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3</a:t>
                      </a:r>
                      <a:endParaRPr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4031">
                <a:tc vMerge="1">
                  <a:txBody>
                    <a:bodyPr/>
                    <a:lstStyle/>
                    <a:p>
                      <a:pPr marL="9271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전달된 요소가 있는 문장의 일부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내용에 누락이나 다른 해석이 있는 경우</a:t>
                      </a:r>
                      <a:endParaRPr lang="en-US" altLang="ko-KR" sz="9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461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2</a:t>
                      </a:r>
                      <a:endParaRPr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4031">
                <a:tc rowSpan="2">
                  <a:txBody>
                    <a:bodyPr/>
                    <a:lstStyle/>
                    <a:p>
                      <a:pPr marL="9271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1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구성 요소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9271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1 ~ 1.5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 전달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전달된 요소가 있는 문장의 일부 </a:t>
                      </a:r>
                      <a:r>
                        <a:rPr lang="ko-KR" altLang="en-US" sz="900" b="1" dirty="0">
                          <a:solidFill>
                            <a:srgbClr val="0000CC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내용에 누락이나 다른 해석이 없는 경우</a:t>
                      </a:r>
                      <a:endParaRPr lang="en-US" altLang="ko-KR" sz="900" b="1" dirty="0">
                        <a:solidFill>
                          <a:srgbClr val="0000CC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461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2</a:t>
                      </a:r>
                      <a:endParaRPr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4031">
                <a:tc vMerge="1">
                  <a:txBody>
                    <a:bodyPr/>
                    <a:lstStyle/>
                    <a:p>
                      <a:pPr marL="9271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전달된 요소가 있는 문장의 일부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내용에 누락이나 다른 해석이 있는 경우</a:t>
                      </a:r>
                      <a:endParaRPr lang="en-US" altLang="ko-KR" sz="9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461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1</a:t>
                      </a:r>
                      <a:endParaRPr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97851">
                <a:tc>
                  <a:txBody>
                    <a:bodyPr/>
                    <a:lstStyle/>
                    <a:p>
                      <a:pPr marL="9271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1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스토리 구성 요소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9271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0 ~ 0.5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개 전달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전달된 스토리가 없는 경우</a:t>
                      </a:r>
                      <a:endParaRPr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461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1</a:t>
                      </a:r>
                      <a:endParaRPr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39503362-B264-4C4B-B126-85EAA65FF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664" y="6327086"/>
            <a:ext cx="716279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 시 점수는 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기준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항목을 대상으로 한 다음 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 세부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통해 최종 점수를 부여</a:t>
            </a: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한다</a:t>
            </a:r>
            <a:r>
              <a:rPr kumimoji="0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228600" indent="-228600"/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900" b="1" dirty="0" err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원어민을</a:t>
            </a: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기준으로 오류 없이 스토리의 흐름에 맞게 완전한 내용을 전달한 경우 </a:t>
            </a:r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점 만점을 부여할 수 있다</a:t>
            </a:r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A568775-F57D-421F-965F-64E586973C55}"/>
              </a:ext>
            </a:extLst>
          </p:cNvPr>
          <p:cNvSpPr/>
          <p:nvPr/>
        </p:nvSpPr>
        <p:spPr>
          <a:xfrm>
            <a:off x="8182083" y="1313023"/>
            <a:ext cx="3344503" cy="415220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7EE7388E-B9C5-4945-8677-D344277E92C9}"/>
              </a:ext>
            </a:extLst>
          </p:cNvPr>
          <p:cNvSpPr txBox="1"/>
          <p:nvPr/>
        </p:nvSpPr>
        <p:spPr>
          <a:xfrm>
            <a:off x="8294497" y="1460362"/>
            <a:ext cx="3119674" cy="27966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참고</a:t>
            </a:r>
            <a:endParaRPr lang="en-US" altLang="ko-KR" sz="9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이해력의 경우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전달된 스토리 구성 요소의 수가 절대적으로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중요 함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해서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평가는 전달된 스토리의 구성 요소를 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기준으로 함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.</a:t>
            </a: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endParaRPr lang="en-US" sz="900" dirty="0"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스토리 구성 요소는 해당 문장의 모든 내용을 포함하지 않기 때문에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2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개의 점수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range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에서 전달되어야 하는 요소 外 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다른 내용까지 전달했는지 여부를 판단하여 오류가 있고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,</a:t>
            </a: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없음으로 상위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/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하위 점수를 부여한다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.</a:t>
            </a: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endParaRPr lang="en-US" sz="900" dirty="0"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구성 요소 外 추가적으로 전달된 내용이 없어 특이 오류가 없는 경우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, 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숫자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).5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를 전달한 경우 상위 점수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, 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숫자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만 전달한 경우 하위 점수를 준다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.</a:t>
            </a: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endParaRPr lang="en-US" sz="900" dirty="0"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en-US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예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)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전달된 요소가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5.5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인데 요소 外 추가적으로 전달된 내용이 없는 경우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7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점을 부여한다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.</a:t>
            </a:r>
            <a:endParaRPr lang="en-US" sz="900" dirty="0"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C252DE-F6C3-8C4B-008D-8DD0E05A6BB4}"/>
              </a:ext>
            </a:extLst>
          </p:cNvPr>
          <p:cNvSpPr txBox="1"/>
          <p:nvPr/>
        </p:nvSpPr>
        <p:spPr>
          <a:xfrm>
            <a:off x="103612" y="639152"/>
            <a:ext cx="38243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(2) Part E (Story Retelling) </a:t>
            </a:r>
            <a:r>
              <a:rPr lang="ko-KR" altLang="en-US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영역별 평가 가이드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1E1BFE4-8F25-E942-1628-921351982DB3}"/>
              </a:ext>
            </a:extLst>
          </p:cNvPr>
          <p:cNvGrpSpPr/>
          <p:nvPr/>
        </p:nvGrpSpPr>
        <p:grpSpPr>
          <a:xfrm>
            <a:off x="-11565" y="0"/>
            <a:ext cx="7960511" cy="516048"/>
            <a:chOff x="-11565" y="0"/>
            <a:chExt cx="7960511" cy="51604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A878FA4-E5F1-E59D-23A4-7BC201DD46F8}"/>
                </a:ext>
              </a:extLst>
            </p:cNvPr>
            <p:cNvSpPr txBox="1"/>
            <p:nvPr/>
          </p:nvSpPr>
          <p:spPr>
            <a:xfrm>
              <a:off x="112665" y="67022"/>
              <a:ext cx="23857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en-US" altLang="ko-KR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2. SPAC^ </a:t>
              </a:r>
              <a:r>
                <a:rPr lang="ko-KR" altLang="en-US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평가 기준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A0E40F2-F2B4-13B5-EAF4-AF819BE08B49}"/>
                </a:ext>
              </a:extLst>
            </p:cNvPr>
            <p:cNvSpPr/>
            <p:nvPr/>
          </p:nvSpPr>
          <p:spPr>
            <a:xfrm>
              <a:off x="0" y="0"/>
              <a:ext cx="103612" cy="5160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B576A0F5-3684-6103-CE72-C8ABA4317D5A}"/>
                </a:ext>
              </a:extLst>
            </p:cNvPr>
            <p:cNvCxnSpPr>
              <a:cxnSpLocks/>
            </p:cNvCxnSpPr>
            <p:nvPr/>
          </p:nvCxnSpPr>
          <p:spPr>
            <a:xfrm>
              <a:off x="-11565" y="506995"/>
              <a:ext cx="79605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18797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6">
            <a:extLst>
              <a:ext uri="{FF2B5EF4-FFF2-40B4-BE49-F238E27FC236}">
                <a16:creationId xmlns:a16="http://schemas.microsoft.com/office/drawing/2014/main" id="{E49DEB96-7C56-4CF5-A4B8-16427D4DD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921" y="997592"/>
            <a:ext cx="196399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(3-1) [</a:t>
            </a:r>
            <a:r>
              <a:rPr lang="ko-KR" altLang="en-US" sz="1000" b="1" dirty="0" err="1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문장숙달성</a:t>
            </a:r>
            <a:r>
              <a:rPr lang="en-US" altLang="ko-KR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문장구조이해</a:t>
            </a:r>
            <a:endParaRPr lang="ko-KR" altLang="en-US" sz="10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DF43B6D-F8EB-4877-9FF1-607626187C44}"/>
              </a:ext>
            </a:extLst>
          </p:cNvPr>
          <p:cNvSpPr/>
          <p:nvPr/>
        </p:nvSpPr>
        <p:spPr>
          <a:xfrm>
            <a:off x="9049313" y="674088"/>
            <a:ext cx="2574958" cy="415220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object 8">
            <a:extLst>
              <a:ext uri="{FF2B5EF4-FFF2-40B4-BE49-F238E27FC236}">
                <a16:creationId xmlns:a16="http://schemas.microsoft.com/office/drawing/2014/main" id="{F1FE796A-3226-400A-8C0A-F7482349B6B7}"/>
              </a:ext>
            </a:extLst>
          </p:cNvPr>
          <p:cNvSpPr txBox="1"/>
          <p:nvPr/>
        </p:nvSpPr>
        <p:spPr>
          <a:xfrm>
            <a:off x="9491804" y="730892"/>
            <a:ext cx="2295807" cy="27466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1000" b="1" dirty="0">
                <a:solidFill>
                  <a:srgbClr val="FF0000"/>
                </a:solidFill>
                <a:latin typeface="맑은 고딕"/>
                <a:cs typeface="맑은 고딕"/>
              </a:rPr>
              <a:t>참고</a:t>
            </a:r>
            <a:endParaRPr lang="en-US" altLang="ko-KR" sz="1000" b="1" dirty="0">
              <a:solidFill>
                <a:srgbClr val="FF0000"/>
              </a:solidFill>
              <a:latin typeface="맑은 고딕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endParaRPr lang="en-US" sz="1000" b="1" dirty="0">
              <a:latin typeface="맑은 고딕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endParaRPr lang="en-US" sz="1000" b="1" dirty="0">
              <a:latin typeface="맑은 고딕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1000" dirty="0">
                <a:latin typeface="맑은 고딕"/>
                <a:cs typeface="맑은 고딕"/>
              </a:rPr>
              <a:t>한번 만으로 이루어진 문장</a:t>
            </a:r>
            <a:endParaRPr lang="en-US" altLang="ko-KR" sz="1000" dirty="0">
              <a:latin typeface="맑은 고딕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endParaRPr lang="en-US" sz="1000" dirty="0">
              <a:latin typeface="맑은 고딕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endParaRPr lang="en-US" sz="1000" dirty="0">
              <a:latin typeface="맑은 고딕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endParaRPr lang="en-US" sz="1000" dirty="0">
              <a:latin typeface="맑은 고딕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1000" dirty="0">
                <a:latin typeface="맑은 고딕"/>
                <a:cs typeface="맑은 고딕"/>
              </a:rPr>
              <a:t>두 개 이상의 단문이 등위 접속사</a:t>
            </a:r>
            <a:endParaRPr lang="en-US" altLang="ko-KR" sz="1000" dirty="0">
              <a:latin typeface="맑은 고딕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en-US" altLang="ko-KR" sz="1000" dirty="0">
                <a:latin typeface="맑은 고딕"/>
                <a:cs typeface="맑은 고딕"/>
              </a:rPr>
              <a:t>(and, but, or, so</a:t>
            </a:r>
            <a:r>
              <a:rPr lang="ko-KR" altLang="en-US" sz="1000" dirty="0">
                <a:latin typeface="맑은 고딕"/>
                <a:cs typeface="맑은 고딕"/>
              </a:rPr>
              <a:t>등</a:t>
            </a:r>
            <a:r>
              <a:rPr lang="en-US" altLang="ko-KR" sz="1000" dirty="0">
                <a:latin typeface="맑은 고딕"/>
                <a:cs typeface="맑은 고딕"/>
              </a:rPr>
              <a:t>)</a:t>
            </a:r>
            <a:r>
              <a:rPr lang="ko-KR" altLang="en-US" sz="1000" dirty="0">
                <a:latin typeface="맑은 고딕"/>
                <a:cs typeface="맑은 고딕"/>
              </a:rPr>
              <a:t>로 연결된 문장</a:t>
            </a:r>
            <a:endParaRPr lang="en-US" altLang="ko-KR" sz="1000" dirty="0">
              <a:latin typeface="맑은 고딕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endParaRPr lang="en-US" sz="1000" dirty="0">
              <a:latin typeface="맑은 고딕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endParaRPr lang="en-US" sz="1000" dirty="0">
              <a:latin typeface="맑은 고딕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endParaRPr lang="en-US" sz="1000" dirty="0">
              <a:latin typeface="맑은 고딕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1000" dirty="0">
                <a:latin typeface="맑은 고딕"/>
                <a:cs typeface="맑은 고딕"/>
              </a:rPr>
              <a:t>주절과 종속 절로 이루어진 문장 </a:t>
            </a:r>
            <a:endParaRPr lang="en-US" altLang="ko-KR" sz="1000" dirty="0">
              <a:latin typeface="맑은 고딕"/>
              <a:cs typeface="맑은 고딕"/>
            </a:endParaRP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en-US" altLang="ko-KR" sz="1000" dirty="0">
                <a:latin typeface="맑은 고딕"/>
                <a:cs typeface="맑은 고딕"/>
              </a:rPr>
              <a:t>* </a:t>
            </a:r>
            <a:r>
              <a:rPr lang="ko-KR" altLang="en-US" sz="1000" dirty="0">
                <a:latin typeface="맑은 고딕"/>
                <a:cs typeface="맑은 고딕"/>
              </a:rPr>
              <a:t>종속접속사</a:t>
            </a:r>
            <a:r>
              <a:rPr lang="en-US" altLang="ko-KR" sz="1000" dirty="0">
                <a:latin typeface="맑은 고딕"/>
                <a:cs typeface="맑은 고딕"/>
              </a:rPr>
              <a:t>(because, that, it, when</a:t>
            </a:r>
            <a:r>
              <a:rPr lang="ko-KR" altLang="en-US" sz="1000" dirty="0">
                <a:latin typeface="맑은 고딕"/>
                <a:cs typeface="맑은 고딕"/>
              </a:rPr>
              <a:t>등</a:t>
            </a:r>
            <a:r>
              <a:rPr lang="en-US" altLang="ko-KR" sz="1000" dirty="0">
                <a:latin typeface="맑은 고딕"/>
                <a:cs typeface="맑은 고딕"/>
              </a:rPr>
              <a:t>)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FB2CEC6-509F-4028-B36B-E76A8D66F86F}"/>
              </a:ext>
            </a:extLst>
          </p:cNvPr>
          <p:cNvSpPr/>
          <p:nvPr/>
        </p:nvSpPr>
        <p:spPr>
          <a:xfrm>
            <a:off x="9201716" y="978542"/>
            <a:ext cx="1600199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▷ 단문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: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S + V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 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043E31A-95D8-4D39-BAD1-6E35A9E8D5FB}"/>
              </a:ext>
            </a:extLst>
          </p:cNvPr>
          <p:cNvSpPr/>
          <p:nvPr/>
        </p:nvSpPr>
        <p:spPr>
          <a:xfrm>
            <a:off x="9201715" y="1588142"/>
            <a:ext cx="1600199" cy="4381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▷ 중문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: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S + V </a:t>
            </a: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    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대등접속사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S + V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 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11C6C3A-8E85-4699-830A-E88BBA262360}"/>
              </a:ext>
            </a:extLst>
          </p:cNvPr>
          <p:cNvSpPr/>
          <p:nvPr/>
        </p:nvSpPr>
        <p:spPr>
          <a:xfrm>
            <a:off x="9201715" y="2569167"/>
            <a:ext cx="1600199" cy="4381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▷ 복문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: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S + V </a:t>
            </a: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    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종속접속사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S + V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 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5592D5E-2D82-476A-8DBE-5079F3E5999D}"/>
              </a:ext>
            </a:extLst>
          </p:cNvPr>
          <p:cNvSpPr/>
          <p:nvPr/>
        </p:nvSpPr>
        <p:spPr>
          <a:xfrm>
            <a:off x="9201715" y="3550192"/>
            <a:ext cx="1600199" cy="8096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▷ 관계대명사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 / 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접속사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:</a:t>
            </a: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Even though, even if, </a:t>
            </a: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Not ~ but also, which,</a:t>
            </a:r>
          </a:p>
          <a:p>
            <a:pPr marL="12700">
              <a:lnSpc>
                <a:spcPct val="120000"/>
              </a:lnSpc>
              <a:spcBef>
                <a:spcPts val="100"/>
              </a:spcBef>
              <a:tabLst>
                <a:tab pos="134620" algn="l"/>
              </a:tabLst>
            </a:pPr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Whatever </a:t>
            </a:r>
            <a:r>
              <a:rPr lang="ko-KR" altLang="en-US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"/>
              </a:rPr>
              <a:t>등 표현의미</a:t>
            </a:r>
            <a:endParaRPr lang="en-US" altLang="ko-KR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"/>
            </a:endParaRPr>
          </a:p>
        </p:txBody>
      </p:sp>
      <p:graphicFrame>
        <p:nvGraphicFramePr>
          <p:cNvPr id="32" name="object 6">
            <a:extLst>
              <a:ext uri="{FF2B5EF4-FFF2-40B4-BE49-F238E27FC236}">
                <a16:creationId xmlns:a16="http://schemas.microsoft.com/office/drawing/2014/main" id="{9176AB46-7D40-43E7-A63E-22D9EFD37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697690"/>
              </p:ext>
            </p:extLst>
          </p:nvPr>
        </p:nvGraphicFramePr>
        <p:xfrm>
          <a:off x="222112" y="1313022"/>
          <a:ext cx="8677066" cy="52343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8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9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39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기준</a:t>
                      </a:r>
                      <a:endParaRPr sz="9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244060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평가</a:t>
                      </a:r>
                      <a:r>
                        <a:rPr sz="900" b="1" spc="-25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세부</a:t>
                      </a:r>
                      <a:endParaRPr sz="9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244060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b="1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점수</a:t>
                      </a:r>
                      <a:endParaRPr sz="9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244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7">
                <a:tc rowSpan="6">
                  <a:txBody>
                    <a:bodyPr/>
                    <a:lstStyle/>
                    <a:p>
                      <a:pPr marL="92710" marR="353695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1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[Advanced]</a:t>
                      </a:r>
                    </a:p>
                    <a:p>
                      <a:pPr marL="92710" marR="353695" algn="l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46~60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초 </a:t>
                      </a:r>
                      <a:r>
                        <a:rPr lang="ko-KR" altLang="en-US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동안 진술한 경우</a:t>
                      </a:r>
                      <a:endParaRPr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관계대명사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(who,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which, that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등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)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및 접속사의 사용이 활발하고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복문 구성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이 원활하며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내용에 문법적 오류가 없는 경우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9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~10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관계대명사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(who, which, that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등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)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및 접속사를 활발하게 사용하여 본문을 구성하며 오류가 거의 없는 경우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8점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and, but, so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를 이용한 중문 구성이 원활하며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의미를 해치지 않는 수준의 오류가 있는 경우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7점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and, but, so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를 이용한 중문 구성이 가능하나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의미를 해치는 수준의 오류가 있는 경우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34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6점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간단한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단문위주의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문장구성을 보이며 의미를 해치는 수준의 오류가 있는 경우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5점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단어 배열에 어려움이 있어 완전한 문장구성이 힘든</a:t>
                      </a:r>
                      <a:r>
                        <a:rPr sz="900" spc="-8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4점</a:t>
                      </a:r>
                    </a:p>
                  </a:txBody>
                  <a:tcPr marL="0" marR="0" marT="43180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7">
                <a:tc rowSpan="6">
                  <a:txBody>
                    <a:bodyPr/>
                    <a:lstStyle/>
                    <a:p>
                      <a:pPr marL="92710" marR="353695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1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[Intermediate]</a:t>
                      </a:r>
                      <a:endParaRPr lang="ko-KR" altLang="en-US" sz="10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92710" marR="353695" algn="l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31~45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초 </a:t>
                      </a:r>
                      <a:r>
                        <a:rPr lang="ko-KR" altLang="en-US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동안 진술한 경우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4615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관계대명사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(who,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which, that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등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)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및 접속사의 사용이 활발하고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복문 구성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이 원활하며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내용에 문법적 오류가 없는 경우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8점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9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관계대명사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(who, which, that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등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)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및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접속사를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활발하게 사용하였으며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의미를 해치지 않는 수준의 오류가 있는 경우</a:t>
                      </a:r>
                      <a:endParaRPr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7점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9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94615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and, but, so를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이용한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중문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구성이 원활하며,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의미를 해치지 않는 수준의 오류가 있는 경우</a:t>
                      </a:r>
                      <a:endParaRPr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6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  <a:endParaRPr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9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and, but, so를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이용한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중문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구성이 가능하나,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의미를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해치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는 수준의 오류가 있는 경우</a:t>
                      </a:r>
                      <a:endParaRPr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5점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9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간단한 단문위주의 문장구성을 보이며 의미를 해치는 수준의 오류가 있는 경우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4점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9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단어 배열에 어려움이 있어 완전한 문장구성이 힘든</a:t>
                      </a:r>
                      <a:r>
                        <a:rPr sz="900" spc="-8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3점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997">
                <a:tc rowSpan="6">
                  <a:txBody>
                    <a:bodyPr/>
                    <a:lstStyle/>
                    <a:p>
                      <a:pPr marL="92710" marR="353695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1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[Intermediate]</a:t>
                      </a:r>
                      <a:endParaRPr lang="ko-KR" altLang="en-US" sz="10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92710" marR="353695" algn="l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16~30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초</a:t>
                      </a:r>
                      <a:r>
                        <a:rPr lang="ko-KR" altLang="en-US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동안 진술한 경우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4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관계대명사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(who,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which, that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등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)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및 접속사의 사용이 활발하고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복문 구성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이 원활하며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내용에 문법적 오류가 없는 경우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7점</a:t>
                      </a: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9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관계대명사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(who, which, that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등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)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및 접속사를 활발하게 사용하였으며,의미를 해치지 않는 수준의 오류가 있는 경우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6점</a:t>
                      </a:r>
                      <a:endParaRPr sz="100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9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and, but, so를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이용한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중문 구성이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원활하며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의미를 해치지 않는 수준의 오류가 있는 경우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5점</a:t>
                      </a:r>
                      <a:endParaRPr sz="100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9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and, but, so를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이용한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중문 구성이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가능하나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의미를 해치는 수준의 오류가 있는 경우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4점</a:t>
                      </a:r>
                      <a:endParaRPr sz="100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9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간단한 단문위주의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문장구성을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보이며 의미를 해치는 수준의 오류가 있는 경우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3점</a:t>
                      </a:r>
                      <a:endParaRPr sz="100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9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단어 배열에 어려움이 있어 완전한 문장구성이 힘든</a:t>
                      </a:r>
                      <a:r>
                        <a:rPr sz="900" spc="-8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445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2점</a:t>
                      </a:r>
                      <a:endParaRPr sz="100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997">
                <a:tc rowSpan="5">
                  <a:txBody>
                    <a:bodyPr/>
                    <a:lstStyle/>
                    <a:p>
                      <a:pPr marL="92710" marR="353695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1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[Beginner]</a:t>
                      </a:r>
                      <a:endParaRPr lang="ko-KR" altLang="en-US" sz="10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92710" marR="353695" algn="l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0~15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초 </a:t>
                      </a:r>
                      <a:r>
                        <a:rPr lang="ko-KR" altLang="en-US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동안 진술한 경우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4615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and, but, so를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이용한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중문 구성이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원활하며, 의미를 해치지 않는 수준의 오류가 있는 경우</a:t>
                      </a:r>
                    </a:p>
                  </a:txBody>
                  <a:tcPr marL="0" marR="0" marT="4445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5점</a:t>
                      </a:r>
                      <a:endParaRPr sz="100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4450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9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and, but, so를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이용한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중문 구성이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가능하나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의미를 해치는 수준의 오류가 있는 경우</a:t>
                      </a:r>
                    </a:p>
                  </a:txBody>
                  <a:tcPr marL="0" marR="0" marT="4445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4점</a:t>
                      </a:r>
                    </a:p>
                  </a:txBody>
                  <a:tcPr marL="0" marR="0" marT="44450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9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간단한 단문위주의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문장구성을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보이며 의미를 해치는 수준의 오류가 있는 경우</a:t>
                      </a:r>
                    </a:p>
                  </a:txBody>
                  <a:tcPr marL="0" marR="0" marT="4445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3점</a:t>
                      </a:r>
                    </a:p>
                  </a:txBody>
                  <a:tcPr marL="0" marR="0" marT="44450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9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단어 배열에 어려움이 있어 완전한 문장구성이 힘든</a:t>
                      </a:r>
                      <a:r>
                        <a:rPr sz="900" spc="-8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445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2점</a:t>
                      </a:r>
                    </a:p>
                  </a:txBody>
                  <a:tcPr marL="0" marR="0" marT="44450" marB="0" anchor="ctr">
                    <a:lnL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9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답변을 제공하지 않거나 I </a:t>
                      </a:r>
                      <a:r>
                        <a:rPr sz="900" spc="-5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don’t know. 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라고만 답한</a:t>
                      </a:r>
                      <a:r>
                        <a:rPr sz="900" spc="-55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445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1점</a:t>
                      </a:r>
                    </a:p>
                  </a:txBody>
                  <a:tcPr marL="0" marR="0" marT="4445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33" name="직사각형 13">
            <a:extLst>
              <a:ext uri="{FF2B5EF4-FFF2-40B4-BE49-F238E27FC236}">
                <a16:creationId xmlns:a16="http://schemas.microsoft.com/office/drawing/2014/main" id="{5C68F9BF-D4B3-49B0-A9E7-505C4897C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9616" y="4946430"/>
            <a:ext cx="2847995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 시 점수는 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기준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항목을 대상으로 한 다음</a:t>
            </a:r>
            <a:endParaRPr kumimoji="0"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 세부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통해 최종 점수를 부여</a:t>
            </a: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한다</a:t>
            </a:r>
            <a:r>
              <a:rPr kumimoji="0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endParaRPr kumimoji="0"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원어민 기준으로 오류 없이 다양한 형태의 문장유형을 활용하여 논리적으로 내용을 구성한 경우</a:t>
            </a:r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점 만점을 부여할 수 있다</a:t>
            </a:r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2" name="직사각형 13">
            <a:extLst>
              <a:ext uri="{FF2B5EF4-FFF2-40B4-BE49-F238E27FC236}">
                <a16:creationId xmlns:a16="http://schemas.microsoft.com/office/drawing/2014/main" id="{4B42F6D3-161B-03F7-4256-1488FEC74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3694" y="5898335"/>
            <a:ext cx="2743917" cy="646331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응시자가 발화 도중 </a:t>
            </a:r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초 이상의 휴지를 가지거나 </a:t>
            </a:r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filler words (um, uh, ah, that, I, </a:t>
            </a:r>
            <a:r>
              <a:rPr lang="en-US" altLang="ko-KR" sz="900" b="1" dirty="0" err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etc</a:t>
            </a:r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사용하여 발화 시</a:t>
            </a:r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발화하지 않은 것으로 간주하여 총 발화시간에서 제외 함</a:t>
            </a:r>
            <a:endParaRPr lang="en-US" altLang="ko-KR" sz="9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4A284E-D698-332E-4ABD-A08B1F48B43B}"/>
              </a:ext>
            </a:extLst>
          </p:cNvPr>
          <p:cNvSpPr txBox="1"/>
          <p:nvPr/>
        </p:nvSpPr>
        <p:spPr>
          <a:xfrm>
            <a:off x="103612" y="639152"/>
            <a:ext cx="38740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(3) Part F (Open Question) </a:t>
            </a:r>
            <a:r>
              <a:rPr lang="ko-KR" altLang="en-US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영역별 평가 가이드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3EDB136-81E8-7E5C-234F-4988252BC789}"/>
              </a:ext>
            </a:extLst>
          </p:cNvPr>
          <p:cNvGrpSpPr/>
          <p:nvPr/>
        </p:nvGrpSpPr>
        <p:grpSpPr>
          <a:xfrm>
            <a:off x="-11565" y="0"/>
            <a:ext cx="7960511" cy="516048"/>
            <a:chOff x="-11565" y="0"/>
            <a:chExt cx="7960511" cy="51604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1228577-A287-AD64-8449-ED26CA183D64}"/>
                </a:ext>
              </a:extLst>
            </p:cNvPr>
            <p:cNvSpPr txBox="1"/>
            <p:nvPr/>
          </p:nvSpPr>
          <p:spPr>
            <a:xfrm>
              <a:off x="112665" y="67022"/>
              <a:ext cx="23857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en-US" altLang="ko-KR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2. SPAC^ </a:t>
              </a:r>
              <a:r>
                <a:rPr lang="ko-KR" altLang="en-US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평가 기준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C6441E3-2879-4D1F-9B2E-32D143DB5382}"/>
                </a:ext>
              </a:extLst>
            </p:cNvPr>
            <p:cNvSpPr/>
            <p:nvPr/>
          </p:nvSpPr>
          <p:spPr>
            <a:xfrm>
              <a:off x="0" y="0"/>
              <a:ext cx="103612" cy="5160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E8F82295-CAAF-3481-9DB4-D10E066970E9}"/>
                </a:ext>
              </a:extLst>
            </p:cNvPr>
            <p:cNvCxnSpPr>
              <a:cxnSpLocks/>
            </p:cNvCxnSpPr>
            <p:nvPr/>
          </p:nvCxnSpPr>
          <p:spPr>
            <a:xfrm>
              <a:off x="-11565" y="506995"/>
              <a:ext cx="79605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241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6">
            <a:extLst>
              <a:ext uri="{FF2B5EF4-FFF2-40B4-BE49-F238E27FC236}">
                <a16:creationId xmlns:a16="http://schemas.microsoft.com/office/drawing/2014/main" id="{E49DEB96-7C56-4CF5-A4B8-16427D4DD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665" y="997592"/>
            <a:ext cx="1721946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(3-2) [</a:t>
            </a:r>
            <a:r>
              <a:rPr lang="ko-KR" altLang="en-US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어휘</a:t>
            </a:r>
            <a:r>
              <a:rPr lang="en-US" altLang="ko-KR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다양성 </a:t>
            </a:r>
            <a:r>
              <a:rPr lang="en-US" altLang="ko-KR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적합성</a:t>
            </a:r>
            <a:endParaRPr lang="ko-KR" altLang="en-US" sz="10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8" name="object 5">
            <a:extLst>
              <a:ext uri="{FF2B5EF4-FFF2-40B4-BE49-F238E27FC236}">
                <a16:creationId xmlns:a16="http://schemas.microsoft.com/office/drawing/2014/main" id="{960387BA-0499-4622-9E06-4D4B775B5A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053845"/>
              </p:ext>
            </p:extLst>
          </p:nvPr>
        </p:nvGraphicFramePr>
        <p:xfrm>
          <a:off x="199194" y="1283516"/>
          <a:ext cx="10403940" cy="5099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0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6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6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355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기준</a:t>
                      </a:r>
                      <a:endParaRPr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244060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평가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세부</a:t>
                      </a:r>
                      <a:endParaRPr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24406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점수</a:t>
                      </a:r>
                      <a:endParaRPr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244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791">
                <a:tc rowSpan="5">
                  <a:txBody>
                    <a:bodyPr/>
                    <a:lstStyle/>
                    <a:p>
                      <a:pPr marL="92710" marR="353695" algn="l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[Advanced]</a:t>
                      </a:r>
                    </a:p>
                    <a:p>
                      <a:pPr marL="92710" marR="353695" algn="l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46~60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초 </a:t>
                      </a:r>
                      <a:r>
                        <a:rPr lang="ko-KR" altLang="en-US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동안 진술한 경우</a:t>
                      </a:r>
                      <a:endParaRPr lang="en-US" altLang="ko-KR" sz="10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고급레벨의 구동사, 숙어, 관용적 표현을 포함한 다양한 어휘를 오류 없이 활용한</a:t>
                      </a:r>
                      <a:r>
                        <a:rPr sz="900" spc="-85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9</a:t>
                      </a:r>
                      <a:r>
                        <a:rPr 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~10</a:t>
                      </a:r>
                      <a:r>
                        <a:rPr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7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다양한 어휘 특히 형용사, 부사 등 수식어를 오류 없이 사용한</a:t>
                      </a:r>
                      <a:r>
                        <a:rPr sz="900" spc="-8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8</a:t>
                      </a:r>
                      <a:r>
                        <a:rPr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7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의미를 해치지 않는 다양한 어휘를 사용한</a:t>
                      </a:r>
                      <a:r>
                        <a:rPr sz="900" spc="-7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7</a:t>
                      </a:r>
                      <a:r>
                        <a:rPr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7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사용된 어휘가 다소 제한적이며, 같은 어휘를 반복하고, 의미를 해치지 않는 수준의 오류가 있는</a:t>
                      </a:r>
                      <a:r>
                        <a:rPr sz="900" spc="-85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6</a:t>
                      </a:r>
                      <a:r>
                        <a:rPr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7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쉬운 어휘만을 반복적으로 사용하고 적합성이 매우 떨어지는</a:t>
                      </a:r>
                      <a:r>
                        <a:rPr sz="900" spc="-9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5</a:t>
                      </a:r>
                      <a:r>
                        <a:rPr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791">
                <a:tc rowSpan="5">
                  <a:txBody>
                    <a:bodyPr/>
                    <a:lstStyle/>
                    <a:p>
                      <a:pPr marL="92710" marR="353695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1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[Intermediate]</a:t>
                      </a:r>
                      <a:endParaRPr lang="en-US" altLang="ko-KR" sz="10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92710" marR="353695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61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31~45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초 </a:t>
                      </a:r>
                      <a:r>
                        <a:rPr lang="ko-KR" altLang="en-US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동안 진술한 경우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고급레벨의 구동사, 숙어, 관용적 표현을 포함한 다양한 어휘를 오류 없이 활용한</a:t>
                      </a:r>
                      <a:r>
                        <a:rPr sz="900" spc="-85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8</a:t>
                      </a:r>
                      <a:r>
                        <a:rPr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7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다양한 어휘 특히 형용사, 부사 </a:t>
                      </a:r>
                      <a:r>
                        <a:rPr sz="900" spc="5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등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수식어를 오류 없이 사용한</a:t>
                      </a:r>
                      <a:r>
                        <a:rPr sz="900" spc="-105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7</a:t>
                      </a:r>
                      <a:r>
                        <a:rPr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의미를 해치지 않는 다양한 어휘를 사용한</a:t>
                      </a:r>
                      <a:r>
                        <a:rPr sz="900" spc="-7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6</a:t>
                      </a:r>
                      <a:r>
                        <a:rPr lang="ko-KR" alt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  <a:endParaRPr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사용된 어휘가 다소 제한적이며, 같은 어휘를 반복하고, 의미를 해치지 않는 수준의 오류가 있는</a:t>
                      </a:r>
                      <a:r>
                        <a:rPr sz="900" spc="-85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5</a:t>
                      </a:r>
                      <a:r>
                        <a:rPr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07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쉬운 어휘만을 반복적으로 사용하고 적합성이 매우 떨어지는</a:t>
                      </a:r>
                      <a:r>
                        <a:rPr sz="900" spc="-9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</a:t>
                      </a:r>
                      <a:r>
                        <a:rPr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0791">
                <a:tc rowSpan="5">
                  <a:txBody>
                    <a:bodyPr/>
                    <a:lstStyle/>
                    <a:p>
                      <a:pPr marL="92710" marR="353695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1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[Intermediate]</a:t>
                      </a:r>
                      <a:b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</a:b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16~30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초</a:t>
                      </a:r>
                      <a:r>
                        <a:rPr lang="ko-KR" altLang="en-US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동안 진술한 경우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고급레벨의 구동사, 숙어, 관용적 표현을 포함한 다양한 어휘를 오류 없이 활용한</a:t>
                      </a:r>
                      <a:r>
                        <a:rPr sz="900" spc="-85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7점</a:t>
                      </a:r>
                      <a:endParaRPr sz="100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07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다양한 어휘 특히 형용사, 부사 등 수식어를 오류 없이 사용한</a:t>
                      </a:r>
                      <a:r>
                        <a:rPr sz="900" spc="-8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6점</a:t>
                      </a:r>
                      <a:endParaRPr sz="100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07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의미를 해치지 않는 다양한 어휘를 사용한</a:t>
                      </a:r>
                      <a:r>
                        <a:rPr sz="900" spc="-7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5점</a:t>
                      </a:r>
                      <a:endParaRPr sz="100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07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사용된 어휘가 다소 제한적이며, 같은 어휘를 반복하고, 의미를 해치지 않는 수준의 오류가 있는</a:t>
                      </a:r>
                      <a:r>
                        <a:rPr sz="900" spc="-85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4점</a:t>
                      </a:r>
                      <a:endParaRPr sz="100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07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쉬운 어휘만을 반복적으로 사용하고 적합성이 매우 떨어지는</a:t>
                      </a:r>
                      <a:r>
                        <a:rPr sz="900" spc="-9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3점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0791">
                <a:tc rowSpan="5">
                  <a:txBody>
                    <a:bodyPr/>
                    <a:lstStyle/>
                    <a:p>
                      <a:pPr marL="92710" marR="353695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1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[Beginner]</a:t>
                      </a:r>
                      <a:endParaRPr lang="en-US" altLang="ko-KR" sz="10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92710" marR="353695" algn="l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0~15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초 </a:t>
                      </a:r>
                      <a:r>
                        <a:rPr lang="ko-KR" altLang="en-US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동안 진술한 경우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다양한 어휘 특히 형용사, 부사 등 수식어를 오류 없이 사용한</a:t>
                      </a:r>
                      <a:r>
                        <a:rPr sz="900" spc="-8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5점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07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의미를 해치지 않는 다양한 어휘를 사용한</a:t>
                      </a:r>
                      <a:r>
                        <a:rPr sz="900" spc="-7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4점</a:t>
                      </a:r>
                    </a:p>
                  </a:txBody>
                  <a:tcPr marL="0" marR="0" marT="43815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407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사용된 어휘가 다소 제한적이며, 같은 어휘를 반복하고, 의미를 해치지 않는 수준의 오류가 있는</a:t>
                      </a:r>
                      <a:r>
                        <a:rPr sz="900" spc="-13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445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3점</a:t>
                      </a:r>
                    </a:p>
                  </a:txBody>
                  <a:tcPr marL="0" marR="0" marT="4445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407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쉬운 어휘만을 반복적으로 사용하고 적합성이 매우 떨어지는</a:t>
                      </a:r>
                      <a:r>
                        <a:rPr sz="900" spc="-9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445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2점</a:t>
                      </a:r>
                    </a:p>
                  </a:txBody>
                  <a:tcPr marL="0" marR="0" marT="4445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407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답변을 제공하지 않거나 I </a:t>
                      </a:r>
                      <a:r>
                        <a:rPr sz="900" spc="-5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don’t know. 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라고만 답한</a:t>
                      </a:r>
                      <a:r>
                        <a:rPr sz="900" spc="-55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445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1점</a:t>
                      </a:r>
                    </a:p>
                  </a:txBody>
                  <a:tcPr marL="0" marR="0" marT="4445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9" name="직사각형 13">
            <a:extLst>
              <a:ext uri="{FF2B5EF4-FFF2-40B4-BE49-F238E27FC236}">
                <a16:creationId xmlns:a16="http://schemas.microsoft.com/office/drawing/2014/main" id="{F3B6BE26-F1F4-4B43-9FD9-DD350DDD2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193" y="6429920"/>
            <a:ext cx="716279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 시 점수는 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기준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항목을 대상으로 한 다음 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 세부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통해 최종 점수를 부여</a:t>
            </a: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한다</a:t>
            </a:r>
            <a:r>
              <a:rPr kumimoji="0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900" b="1" dirty="0" err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원어민</a:t>
            </a: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기준으로 오류 없이 다양하고 전문적인 수준의 어휘를 활용하여 논리적으로 내용을 구성한 경우</a:t>
            </a:r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점 만점을 부여할 수 있다</a:t>
            </a:r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CCB6B4-A1CD-9108-8A69-E22F91C566D4}"/>
              </a:ext>
            </a:extLst>
          </p:cNvPr>
          <p:cNvSpPr txBox="1"/>
          <p:nvPr/>
        </p:nvSpPr>
        <p:spPr>
          <a:xfrm>
            <a:off x="103612" y="639152"/>
            <a:ext cx="38740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(3) Part F (Open Question) </a:t>
            </a:r>
            <a:r>
              <a:rPr lang="ko-KR" altLang="en-US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영역별 평가 가이드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DA5CFE5-A2D4-8E7B-0D7F-3D8992B35DD4}"/>
              </a:ext>
            </a:extLst>
          </p:cNvPr>
          <p:cNvGrpSpPr/>
          <p:nvPr/>
        </p:nvGrpSpPr>
        <p:grpSpPr>
          <a:xfrm>
            <a:off x="-11565" y="0"/>
            <a:ext cx="7960511" cy="516048"/>
            <a:chOff x="-11565" y="0"/>
            <a:chExt cx="7960511" cy="51604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5439302-C318-DF73-9CB1-6A0C8A6E48BB}"/>
                </a:ext>
              </a:extLst>
            </p:cNvPr>
            <p:cNvSpPr txBox="1"/>
            <p:nvPr/>
          </p:nvSpPr>
          <p:spPr>
            <a:xfrm>
              <a:off x="112665" y="67022"/>
              <a:ext cx="23857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en-US" altLang="ko-KR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2. SPAC^ </a:t>
              </a:r>
              <a:r>
                <a:rPr lang="ko-KR" altLang="en-US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평가 기준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53A7901-FEFD-398C-E54D-0EDCF6595C99}"/>
                </a:ext>
              </a:extLst>
            </p:cNvPr>
            <p:cNvSpPr/>
            <p:nvPr/>
          </p:nvSpPr>
          <p:spPr>
            <a:xfrm>
              <a:off x="0" y="0"/>
              <a:ext cx="103612" cy="5160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57B6CC4-F377-0248-14B6-85B308D1504F}"/>
                </a:ext>
              </a:extLst>
            </p:cNvPr>
            <p:cNvCxnSpPr>
              <a:cxnSpLocks/>
            </p:cNvCxnSpPr>
            <p:nvPr/>
          </p:nvCxnSpPr>
          <p:spPr>
            <a:xfrm>
              <a:off x="-11565" y="506995"/>
              <a:ext cx="79605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28890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6">
            <a:extLst>
              <a:ext uri="{FF2B5EF4-FFF2-40B4-BE49-F238E27FC236}">
                <a16:creationId xmlns:a16="http://schemas.microsoft.com/office/drawing/2014/main" id="{E49DEB96-7C56-4CF5-A4B8-16427D4DD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665" y="997592"/>
            <a:ext cx="235673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(3-3) [</a:t>
            </a:r>
            <a:r>
              <a:rPr lang="ko-KR" altLang="en-US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유창성</a:t>
            </a:r>
            <a:r>
              <a:rPr lang="en-US" altLang="ko-KR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논리력 </a:t>
            </a:r>
            <a:r>
              <a:rPr lang="en-US" altLang="ko-KR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구성력 </a:t>
            </a:r>
            <a:r>
              <a:rPr lang="en-US" altLang="ko-KR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유창성</a:t>
            </a:r>
            <a:endParaRPr lang="ko-KR" altLang="en-US" sz="10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DBB9C05D-91AD-4D9C-9BA1-2CD18BF48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347346"/>
              </p:ext>
            </p:extLst>
          </p:nvPr>
        </p:nvGraphicFramePr>
        <p:xfrm>
          <a:off x="199194" y="1249652"/>
          <a:ext cx="10467314" cy="50968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3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1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224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기준</a:t>
                      </a:r>
                      <a:endParaRPr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0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평가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세부</a:t>
                      </a:r>
                      <a:endParaRPr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점수</a:t>
                      </a:r>
                      <a:endParaRPr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18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80">
                <a:tc rowSpan="5">
                  <a:txBody>
                    <a:bodyPr/>
                    <a:lstStyle/>
                    <a:p>
                      <a:pPr marL="92710" marR="353695" algn="l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[Advanced]</a:t>
                      </a:r>
                    </a:p>
                    <a:p>
                      <a:pPr marL="92710" marR="353695" algn="l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46~60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초 </a:t>
                      </a:r>
                      <a:r>
                        <a:rPr lang="ko-KR" altLang="en-US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동안 진술한 경우</a:t>
                      </a:r>
                      <a:endParaRPr lang="en-US" altLang="ko-KR" sz="10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논리 정연하게 서론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본론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결론의 명확한 구성을 지닌 내용을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유창하게 말한 경우</a:t>
                      </a:r>
                    </a:p>
                  </a:txBody>
                  <a:tcPr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9~10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18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6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명확한 주제를 서론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본론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결론의 명확한 구성으로 말했지만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약간의 머뭇거림이 있을 경우</a:t>
                      </a:r>
                    </a:p>
                  </a:txBody>
                  <a:tcPr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8</a:t>
                      </a:r>
                      <a:r>
                        <a:rPr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81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6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 명확한 주제를 머뭇거림 없이 매끄럽게 말했으나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서론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본론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결론이 취약하며 내용의 흐름에 오류가 있을 경우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9526" marR="9526" marT="9523" marB="0" anchor="ctr" horzOverflow="overflow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7</a:t>
                      </a:r>
                      <a:r>
                        <a:rPr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18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6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 명확한 주제에 따른 근거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/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이유 제시가 가능하나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서론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본론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결론이 명확하지 않으며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머뭇거림이 많아 내용의 흐름과 오류 가 있을 경우</a:t>
                      </a:r>
                    </a:p>
                  </a:txBody>
                  <a:tcPr marL="9526" marR="9526" marT="9523" marB="0" anchor="ctr" horzOverflow="overflow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6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81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6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주제가 알맞지 않고 서론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본론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결론이 명확하지 않으며 머뭇거림이 많아 내용의 흐름과 오류가 있을 경우</a:t>
                      </a:r>
                    </a:p>
                  </a:txBody>
                  <a:tcPr marL="0" marR="0" marT="4381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5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81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680">
                <a:tc rowSpan="5">
                  <a:txBody>
                    <a:bodyPr/>
                    <a:lstStyle/>
                    <a:p>
                      <a:pPr marL="92710" marR="353695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1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[Intermediate]</a:t>
                      </a:r>
                      <a:endParaRPr lang="en-US" altLang="ko-KR" sz="10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92710" marR="353695" algn="l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31~45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초 </a:t>
                      </a:r>
                      <a:r>
                        <a:rPr lang="ko-KR" altLang="en-US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동안 진술한 경우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논리 정연하게 서론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본론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결론의 명확한 구성을 지닌 내용을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유창하게 말한 경우</a:t>
                      </a:r>
                    </a:p>
                  </a:txBody>
                  <a:tcPr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8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18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6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명확한 주제를 서론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본론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결론의 명확한 구성으로 말했지만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약간의 머뭇거림이 있을 경우</a:t>
                      </a:r>
                    </a:p>
                  </a:txBody>
                  <a:tcPr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7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81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6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 명확한 주제를 머뭇거림 없이 매끄럽게 말했으나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서론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본론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결론이 취약하며 내용의 흐름에 오류가 있을 경우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9526" marR="9526" marT="9523" marB="0" anchor="ctr" horzOverflow="overflow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6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81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6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 명확한 주제에 따른 근거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/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이유 제시가 가능하나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서론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본론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결론이 명확하지 않으며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머뭇거림이 많아 내용의 흐름과 오류 가 있을 경우</a:t>
                      </a:r>
                    </a:p>
                  </a:txBody>
                  <a:tcPr marL="9526" marR="9526" marT="9523" marB="0" anchor="ctr" horzOverflow="overflow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5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81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06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주제가 알맞지 않고 서론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본론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결론이 명확하지 않으며 머뭇거림이 많아 내용의 흐름과 오류가 있을 경우</a:t>
                      </a:r>
                    </a:p>
                  </a:txBody>
                  <a:tcPr marL="0" marR="0" marT="4381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점</a:t>
                      </a:r>
                    </a:p>
                  </a:txBody>
                  <a:tcPr marL="0" marR="0" marT="4381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0680">
                <a:tc rowSpan="5">
                  <a:txBody>
                    <a:bodyPr/>
                    <a:lstStyle/>
                    <a:p>
                      <a:pPr marL="92710" marR="353695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1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[Intermediate]</a:t>
                      </a:r>
                      <a:endParaRPr lang="en-US" altLang="ko-KR" sz="10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92710" marR="353695" algn="l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16~30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초</a:t>
                      </a:r>
                      <a:r>
                        <a:rPr lang="ko-KR" altLang="en-US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동안 진술한 경우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논리 정연하게 서론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본론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결론의 명확한 구성을 지닌 내용을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유창하게 말한 경우</a:t>
                      </a:r>
                    </a:p>
                  </a:txBody>
                  <a:tcPr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6점</a:t>
                      </a:r>
                    </a:p>
                  </a:txBody>
                  <a:tcPr marL="0" marR="0" marT="4381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06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명확한 주제를 서론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본론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결론의 명확한 구성으로 말했지만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약간의 머뭇거림이 있을 경우</a:t>
                      </a:r>
                    </a:p>
                  </a:txBody>
                  <a:tcPr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5점</a:t>
                      </a:r>
                      <a:endParaRPr sz="100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06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 명확한 주제를 머뭇거림 없이 매끄럽게 말했으나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서론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본론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결론이 취약하며 내용의 흐름에 오류가 있을 경우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9526" marR="9526" marT="9523" marB="0" anchor="ctr" horzOverflow="overflow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4점</a:t>
                      </a:r>
                      <a:endParaRPr sz="100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06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 명확한 주제에 따른 근거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/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이유 제시가 가능하나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서론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본론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결론이 명확하지 않으며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머뭇거림이 많아 내용의 흐름과 오류 가 있을 경우</a:t>
                      </a:r>
                    </a:p>
                  </a:txBody>
                  <a:tcPr marL="9526" marR="9526" marT="9523" marB="0" anchor="ctr" horzOverflow="overflow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3점</a:t>
                      </a:r>
                      <a:endParaRPr sz="100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445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06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4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주제가 알맞지 않고 서론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본론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결론이 명확하지 않으며 중간중간 머뭇거림이 많아 내용의 흐름에 오류가 있을 경우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2점</a:t>
                      </a:r>
                      <a:endParaRPr sz="100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445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0680">
                <a:tc rowSpan="5">
                  <a:txBody>
                    <a:bodyPr/>
                    <a:lstStyle/>
                    <a:p>
                      <a:pPr marL="92710" marR="353695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1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[Beginner]</a:t>
                      </a:r>
                      <a:endParaRPr lang="en-US" altLang="ko-KR" sz="1000" b="1" dirty="0">
                        <a:solidFill>
                          <a:srgbClr val="FF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  <a:p>
                      <a:pPr marL="92710" marR="353695" algn="l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US" altLang="ko-KR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0~15</a:t>
                      </a:r>
                      <a:r>
                        <a:rPr lang="ko-KR" altLang="en-US" sz="1000" b="1" dirty="0">
                          <a:solidFill>
                            <a:srgbClr val="FF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초 </a:t>
                      </a:r>
                      <a:r>
                        <a:rPr lang="ko-KR" altLang="en-US" sz="10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동안 진술한 경우</a:t>
                      </a:r>
                      <a:endParaRPr lang="ko-KR" altLang="en-US" sz="10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논리 정연하게 서론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본론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결론의 명확한 구성을 지닌 내용을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유창하게 말한 경우</a:t>
                      </a:r>
                    </a:p>
                  </a:txBody>
                  <a:tcPr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5점</a:t>
                      </a:r>
                      <a:endParaRPr sz="100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맑은 고딕"/>
                      </a:endParaRPr>
                    </a:p>
                  </a:txBody>
                  <a:tcPr marL="0" marR="0" marT="4381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06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명확한 주제를 서론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본론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결론의 명확한 구성으로 말했지만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약간의 머뭇거림이 있을 경우</a:t>
                      </a:r>
                    </a:p>
                  </a:txBody>
                  <a:tcPr anchor="ctr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4점</a:t>
                      </a:r>
                    </a:p>
                  </a:txBody>
                  <a:tcPr marL="0" marR="0" marT="4381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406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 명확한 주제를 머뭇거림 없이 매끄럽게 말했으나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</a:t>
                      </a:r>
                      <a:r>
                        <a:rPr lang="en-US" altLang="ko-KR" sz="9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짜임새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서론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본론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결론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)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있는 내용의 흐름에 오류가 있을 경우</a:t>
                      </a:r>
                    </a:p>
                  </a:txBody>
                  <a:tcPr marL="9526" marR="9526" marT="9523" marB="0" anchor="ctr" horzOverflow="overflow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3점</a:t>
                      </a:r>
                    </a:p>
                  </a:txBody>
                  <a:tcPr marL="0" marR="0" marT="43815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406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 명확한 주제에 따른 근거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/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이유 제시가 가능하나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머뭇거림이 많아 내용의 흐름과 오류 가 있을 경우</a:t>
                      </a:r>
                    </a:p>
                  </a:txBody>
                  <a:tcPr marL="9526" marR="9526" marT="9523" marB="0" anchor="ctr" horzOverflow="overflow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2점</a:t>
                      </a:r>
                    </a:p>
                  </a:txBody>
                  <a:tcPr marL="0" marR="0" marT="4445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4068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답변을 제공하지 않거나 I </a:t>
                      </a:r>
                      <a:r>
                        <a:rPr sz="900" spc="-5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don’t know. 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라고만 답한</a:t>
                      </a:r>
                      <a:r>
                        <a:rPr sz="900" spc="-55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 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경우</a:t>
                      </a:r>
                    </a:p>
                  </a:txBody>
                  <a:tcPr marL="0" marR="0" marT="4445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맑은 고딕"/>
                        </a:rPr>
                        <a:t>1점</a:t>
                      </a:r>
                    </a:p>
                  </a:txBody>
                  <a:tcPr marL="0" marR="0" marT="44450" marB="0">
                    <a:lnL w="3175">
                      <a:solidFill>
                        <a:srgbClr val="7E7E7E"/>
                      </a:solidFill>
                      <a:prstDash val="solid"/>
                    </a:lnL>
                    <a:lnR w="3175">
                      <a:solidFill>
                        <a:srgbClr val="7E7E7E"/>
                      </a:solidFill>
                      <a:prstDash val="solid"/>
                    </a:lnR>
                    <a:lnT w="3175">
                      <a:solidFill>
                        <a:srgbClr val="7E7E7E"/>
                      </a:solidFill>
                      <a:prstDash val="solid"/>
                    </a:lnT>
                    <a:lnB w="3175">
                      <a:solidFill>
                        <a:srgbClr val="7E7E7E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0" name="직사각형 13">
            <a:extLst>
              <a:ext uri="{FF2B5EF4-FFF2-40B4-BE49-F238E27FC236}">
                <a16:creationId xmlns:a16="http://schemas.microsoft.com/office/drawing/2014/main" id="{D445A99E-837C-4F94-8D7A-BB0604452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18" y="6400611"/>
            <a:ext cx="716279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 시 점수는 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기준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항목을 대상으로 한 다음 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 세부</a:t>
            </a:r>
            <a:r>
              <a:rPr kumimoji="0"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kumimoji="0"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통해 최종 점수를 부여</a:t>
            </a:r>
            <a:r>
              <a:rPr kumimoji="0"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한다</a:t>
            </a:r>
            <a:r>
              <a:rPr kumimoji="0"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900" b="1" dirty="0" err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원어민</a:t>
            </a: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기준으로 오류 없이 막힘 없는 </a:t>
            </a:r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speaking</a:t>
            </a: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으로 논리적이며 구성력이 뛰어난 내용을 구성한 경우</a:t>
            </a:r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점 만점을 부여할 수 있다</a:t>
            </a:r>
            <a:r>
              <a:rPr lang="en-US" altLang="ko-KR" sz="9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B9C06E-3FE3-924B-03E6-4DCC1284C33E}"/>
              </a:ext>
            </a:extLst>
          </p:cNvPr>
          <p:cNvSpPr txBox="1"/>
          <p:nvPr/>
        </p:nvSpPr>
        <p:spPr>
          <a:xfrm>
            <a:off x="103612" y="639152"/>
            <a:ext cx="38740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(3) Part F (Open Question) </a:t>
            </a:r>
            <a:r>
              <a:rPr lang="ko-KR" altLang="en-US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영역별 평가 가이드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AE3D775-B4D6-93E8-2D08-FEA7107C5738}"/>
              </a:ext>
            </a:extLst>
          </p:cNvPr>
          <p:cNvGrpSpPr/>
          <p:nvPr/>
        </p:nvGrpSpPr>
        <p:grpSpPr>
          <a:xfrm>
            <a:off x="-11565" y="0"/>
            <a:ext cx="7960511" cy="516048"/>
            <a:chOff x="-11565" y="0"/>
            <a:chExt cx="7960511" cy="51604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420643-9C4D-EBDE-FEDC-DA4E670C1D3C}"/>
                </a:ext>
              </a:extLst>
            </p:cNvPr>
            <p:cNvSpPr txBox="1"/>
            <p:nvPr/>
          </p:nvSpPr>
          <p:spPr>
            <a:xfrm>
              <a:off x="112665" y="67022"/>
              <a:ext cx="23857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en-US" altLang="ko-KR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2. SPAC^ </a:t>
              </a:r>
              <a:r>
                <a:rPr lang="ko-KR" altLang="en-US" sz="2000" b="1" dirty="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평가 기준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927E156-A5A8-29CA-59AF-41C7869D8E53}"/>
                </a:ext>
              </a:extLst>
            </p:cNvPr>
            <p:cNvSpPr/>
            <p:nvPr/>
          </p:nvSpPr>
          <p:spPr>
            <a:xfrm>
              <a:off x="0" y="0"/>
              <a:ext cx="103612" cy="5160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6E00DF67-72F2-98AD-98E3-E1E274FC3661}"/>
                </a:ext>
              </a:extLst>
            </p:cNvPr>
            <p:cNvCxnSpPr>
              <a:cxnSpLocks/>
            </p:cNvCxnSpPr>
            <p:nvPr/>
          </p:nvCxnSpPr>
          <p:spPr>
            <a:xfrm>
              <a:off x="-11565" y="506995"/>
              <a:ext cx="79605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05604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8198</Words>
  <Application>Microsoft Office PowerPoint</Application>
  <PresentationFormat>와이드스크린</PresentationFormat>
  <Paragraphs>1088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나눔고딕</vt:lpstr>
      <vt:lpstr>맑은 고딕</vt:lpstr>
      <vt:lpstr>Arial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박보리 (Rachel Park)</dc:creator>
  <cp:lastModifiedBy>박보리 (Rachel Park)</cp:lastModifiedBy>
  <cp:revision>1</cp:revision>
  <dcterms:created xsi:type="dcterms:W3CDTF">2025-11-24T10:14:51Z</dcterms:created>
  <dcterms:modified xsi:type="dcterms:W3CDTF">2025-11-24T10:43:18Z</dcterms:modified>
</cp:coreProperties>
</file>